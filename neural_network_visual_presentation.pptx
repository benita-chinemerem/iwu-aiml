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0" autoAdjust="0"/>
    <p:restoredTop sz="94660"/>
  </p:normalViewPr>
  <p:slideViewPr>
    <p:cSldViewPr snapToGrid="0" snapToObjects="1">
      <p:cViewPr>
        <p:scale>
          <a:sx n="87" d="100"/>
          <a:sy n="87" d="100"/>
        </p:scale>
        <p:origin x="437"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7F7"/>
        </a:solidFill>
        <a:effectLst/>
      </p:bgPr>
    </p:bg>
    <p:spTree>
      <p:nvGrpSpPr>
        <p:cNvPr id="1" name=""/>
        <p:cNvGrpSpPr/>
        <p:nvPr/>
      </p:nvGrpSpPr>
      <p:grpSpPr>
        <a:xfrm>
          <a:off x="0" y="0"/>
          <a:ext cx="0" cy="0"/>
          <a:chOff x="0" y="0"/>
          <a:chExt cx="0" cy="0"/>
        </a:xfrm>
      </p:grpSpPr>
      <p:sp>
        <p:nvSpPr>
          <p:cNvPr id="2" name="Rounded Rectangle 1"/>
          <p:cNvSpPr/>
          <p:nvPr/>
        </p:nvSpPr>
        <p:spPr>
          <a:xfrm>
            <a:off x="685800" y="594360"/>
            <a:ext cx="10835640" cy="27432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1051560"/>
            <a:ext cx="10287000" cy="640080"/>
          </a:xfrm>
          <a:prstGeom prst="rect">
            <a:avLst/>
          </a:prstGeom>
          <a:noFill/>
        </p:spPr>
        <p:txBody>
          <a:bodyPr wrap="square" lIns="45720" tIns="27432" rIns="45720" bIns="27432">
            <a:spAutoFit/>
          </a:bodyPr>
          <a:lstStyle/>
          <a:p>
            <a:pPr algn="ctr">
              <a:defRPr sz="3600" b="1">
                <a:solidFill>
                  <a:srgbClr val="FFFFFF"/>
                </a:solidFill>
                <a:latin typeface="Aptos"/>
              </a:defRPr>
            </a:pPr>
            <a:r>
              <a:t>Visualizing Neural Networks</a:t>
            </a:r>
          </a:p>
        </p:txBody>
      </p:sp>
      <p:sp>
        <p:nvSpPr>
          <p:cNvPr id="4" name="TextBox 3"/>
          <p:cNvSpPr txBox="1"/>
          <p:nvPr/>
        </p:nvSpPr>
        <p:spPr>
          <a:xfrm>
            <a:off x="1097280" y="1874519"/>
            <a:ext cx="10012680" cy="822960"/>
          </a:xfrm>
          <a:prstGeom prst="rect">
            <a:avLst/>
          </a:prstGeom>
          <a:noFill/>
        </p:spPr>
        <p:txBody>
          <a:bodyPr wrap="square" lIns="45720" tIns="27432" rIns="45720" bIns="27432">
            <a:spAutoFit/>
          </a:bodyPr>
          <a:lstStyle/>
          <a:p>
            <a:pPr algn="ctr">
              <a:defRPr sz="2100" b="1">
                <a:solidFill>
                  <a:srgbClr val="FFF7F7"/>
                </a:solidFill>
                <a:latin typeface="Aptos"/>
              </a:defRPr>
            </a:pPr>
            <a:r>
              <a:t>Understanding Layers, Neurons, Weights, Activation, Loss, and Optimization</a:t>
            </a:r>
          </a:p>
        </p:txBody>
      </p:sp>
      <p:sp>
        <p:nvSpPr>
          <p:cNvPr id="5" name="TextBox 4"/>
          <p:cNvSpPr txBox="1"/>
          <p:nvPr/>
        </p:nvSpPr>
        <p:spPr>
          <a:xfrm>
            <a:off x="1463040" y="3886200"/>
            <a:ext cx="9235440" cy="411480"/>
          </a:xfrm>
          <a:prstGeom prst="rect">
            <a:avLst/>
          </a:prstGeom>
          <a:noFill/>
        </p:spPr>
        <p:txBody>
          <a:bodyPr wrap="square" lIns="45720" tIns="27432" rIns="45720" bIns="27432">
            <a:spAutoFit/>
          </a:bodyPr>
          <a:lstStyle/>
          <a:p>
            <a:pPr algn="ctr">
              <a:defRPr sz="1600" b="0">
                <a:solidFill>
                  <a:srgbClr val="A61C1C"/>
                </a:solidFill>
                <a:latin typeface="Aptos"/>
              </a:defRPr>
            </a:pPr>
            <a:r>
              <a:t>Benita Chinemerem  |  AIML-501  |  May 18, 2026</a:t>
            </a:r>
          </a:p>
        </p:txBody>
      </p:sp>
      <p:sp>
        <p:nvSpPr>
          <p:cNvPr id="6" name="Rounded Rectangle 5"/>
          <p:cNvSpPr/>
          <p:nvPr/>
        </p:nvSpPr>
        <p:spPr>
          <a:xfrm>
            <a:off x="1508760" y="4617720"/>
            <a:ext cx="9144000" cy="100584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508760" y="4617720"/>
            <a:ext cx="9144000" cy="30175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Artifact Purpose</a:t>
            </a:r>
          </a:p>
        </p:txBody>
      </p:sp>
      <p:sp>
        <p:nvSpPr>
          <p:cNvPr id="8" name="TextBox 7"/>
          <p:cNvSpPr txBox="1"/>
          <p:nvPr/>
        </p:nvSpPr>
        <p:spPr>
          <a:xfrm>
            <a:off x="1645919" y="5001768"/>
            <a:ext cx="8869680" cy="566928"/>
          </a:xfrm>
          <a:prstGeom prst="rect">
            <a:avLst/>
          </a:prstGeom>
          <a:noFill/>
        </p:spPr>
        <p:txBody>
          <a:bodyPr wrap="square" lIns="18288" tIns="18288" rIns="18288" bIns="18288">
            <a:spAutoFit/>
          </a:bodyPr>
          <a:lstStyle/>
          <a:p>
            <a:pPr>
              <a:defRPr sz="1500">
                <a:solidFill>
                  <a:srgbClr val="1E1E1E"/>
                </a:solidFill>
                <a:latin typeface="Aptos"/>
              </a:defRPr>
            </a:pPr>
            <a:r>
              <a:t>A professional portfolio presentation that explains how neural networks are structured and how their components work together during training.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Purpose of This Artifact</a:t>
            </a:r>
          </a:p>
        </p:txBody>
      </p:sp>
      <p:sp>
        <p:nvSpPr>
          <p:cNvPr id="3" name="Rounded Rectangle 2"/>
          <p:cNvSpPr/>
          <p:nvPr/>
        </p:nvSpPr>
        <p:spPr>
          <a:xfrm>
            <a:off x="685800" y="1234440"/>
            <a:ext cx="10835640" cy="105156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1234440"/>
            <a:ext cx="10835640" cy="315468"/>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Portfolio Artifact Goal</a:t>
            </a:r>
          </a:p>
        </p:txBody>
      </p:sp>
      <p:sp>
        <p:nvSpPr>
          <p:cNvPr id="5" name="TextBox 4"/>
          <p:cNvSpPr txBox="1"/>
          <p:nvPr/>
        </p:nvSpPr>
        <p:spPr>
          <a:xfrm>
            <a:off x="822960" y="1632204"/>
            <a:ext cx="10561319" cy="598931"/>
          </a:xfrm>
          <a:prstGeom prst="rect">
            <a:avLst/>
          </a:prstGeom>
          <a:noFill/>
        </p:spPr>
        <p:txBody>
          <a:bodyPr wrap="square" lIns="18288" tIns="18288" rIns="18288" bIns="18288">
            <a:spAutoFit/>
          </a:bodyPr>
          <a:lstStyle/>
          <a:p>
            <a:pPr>
              <a:defRPr sz="1700">
                <a:solidFill>
                  <a:srgbClr val="1E1E1E"/>
                </a:solidFill>
                <a:latin typeface="Aptos"/>
              </a:defRPr>
            </a:pPr>
            <a:r>
              <a:t>This presentation explains the main parts of a neural network using clear visuals and simple explanations.</a:t>
            </a:r>
          </a:p>
        </p:txBody>
      </p:sp>
      <p:sp>
        <p:nvSpPr>
          <p:cNvPr id="6" name="TextBox 5"/>
          <p:cNvSpPr txBox="1"/>
          <p:nvPr/>
        </p:nvSpPr>
        <p:spPr>
          <a:xfrm>
            <a:off x="1051560" y="2606040"/>
            <a:ext cx="9875520" cy="2377440"/>
          </a:xfrm>
          <a:prstGeom prst="rect">
            <a:avLst/>
          </a:prstGeom>
          <a:noFill/>
        </p:spPr>
        <p:txBody>
          <a:bodyPr wrap="square" lIns="45720" tIns="27432" rIns="45720" bIns="27432">
            <a:spAutoFit/>
          </a:bodyPr>
          <a:lstStyle/>
          <a:p>
            <a:pPr marL="285750" indent="-171450">
              <a:spcAft>
                <a:spcPts val="800"/>
              </a:spcAft>
              <a:defRPr sz="2000">
                <a:solidFill>
                  <a:srgbClr val="1E1E1E"/>
                </a:solidFill>
                <a:latin typeface="Aptos"/>
              </a:defRPr>
            </a:pPr>
            <a:r>
              <a:t>Defines key neural network components.</a:t>
            </a:r>
          </a:p>
          <a:p>
            <a:pPr marL="285750" indent="-171450">
              <a:spcAft>
                <a:spcPts val="800"/>
              </a:spcAft>
              <a:defRPr sz="2000">
                <a:solidFill>
                  <a:srgbClr val="1E1E1E"/>
                </a:solidFill>
                <a:latin typeface="Aptos"/>
              </a:defRPr>
            </a:pPr>
            <a:r>
              <a:t>Shows how data moves from input to output.</a:t>
            </a:r>
          </a:p>
          <a:p>
            <a:pPr marL="285750" indent="-171450">
              <a:spcAft>
                <a:spcPts val="800"/>
              </a:spcAft>
              <a:defRPr sz="2000">
                <a:solidFill>
                  <a:srgbClr val="1E1E1E"/>
                </a:solidFill>
                <a:latin typeface="Aptos"/>
              </a:defRPr>
            </a:pPr>
            <a:r>
              <a:t>Explains how learning happens through loss and optimization.</a:t>
            </a:r>
          </a:p>
          <a:p>
            <a:pPr marL="285750" indent="-171450">
              <a:spcAft>
                <a:spcPts val="800"/>
              </a:spcAft>
              <a:defRPr sz="2000">
                <a:solidFill>
                  <a:srgbClr val="1E1E1E"/>
                </a:solidFill>
                <a:latin typeface="Aptos"/>
              </a:defRPr>
            </a:pPr>
            <a:r>
              <a:t>Connects neural network theory to practical model behavior.</a:t>
            </a:r>
          </a:p>
        </p:txBody>
      </p:sp>
      <p:sp>
        <p:nvSpPr>
          <p:cNvPr id="7" name="TextBox 6"/>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8" name="TextBox 7"/>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What Is a Neural Network?</a:t>
            </a:r>
          </a:p>
        </p:txBody>
      </p:sp>
      <p:sp>
        <p:nvSpPr>
          <p:cNvPr id="3" name="TextBox 2"/>
          <p:cNvSpPr txBox="1"/>
          <p:nvPr/>
        </p:nvSpPr>
        <p:spPr>
          <a:xfrm>
            <a:off x="777240" y="1234440"/>
            <a:ext cx="10744200" cy="731520"/>
          </a:xfrm>
          <a:prstGeom prst="rect">
            <a:avLst/>
          </a:prstGeom>
          <a:noFill/>
        </p:spPr>
        <p:txBody>
          <a:bodyPr wrap="square" lIns="45720" tIns="27432" rIns="45720" bIns="27432">
            <a:spAutoFit/>
          </a:bodyPr>
          <a:lstStyle/>
          <a:p>
            <a:pPr algn="l">
              <a:defRPr sz="2000" b="0">
                <a:solidFill>
                  <a:srgbClr val="1E1E1E"/>
                </a:solidFill>
                <a:latin typeface="Aptos"/>
              </a:defRPr>
            </a:pPr>
            <a:r>
              <a:t>A neural network is a machine learning model that learns patterns from data by passing information through connected layers of processing units called neurons.</a:t>
            </a:r>
          </a:p>
        </p:txBody>
      </p:sp>
      <p:sp>
        <p:nvSpPr>
          <p:cNvPr id="4" name="Rounded Rectangle 3"/>
          <p:cNvSpPr/>
          <p:nvPr/>
        </p:nvSpPr>
        <p:spPr>
          <a:xfrm>
            <a:off x="777240" y="2148840"/>
            <a:ext cx="10744200" cy="109728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2148840"/>
            <a:ext cx="10744200" cy="329184"/>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Simple Definition</a:t>
            </a:r>
          </a:p>
        </p:txBody>
      </p:sp>
      <p:sp>
        <p:nvSpPr>
          <p:cNvPr id="6" name="TextBox 5"/>
          <p:cNvSpPr txBox="1"/>
          <p:nvPr/>
        </p:nvSpPr>
        <p:spPr>
          <a:xfrm>
            <a:off x="914400" y="2560320"/>
            <a:ext cx="10469880" cy="630936"/>
          </a:xfrm>
          <a:prstGeom prst="rect">
            <a:avLst/>
          </a:prstGeom>
          <a:noFill/>
        </p:spPr>
        <p:txBody>
          <a:bodyPr wrap="square" lIns="18288" tIns="18288" rIns="18288" bIns="18288">
            <a:spAutoFit/>
          </a:bodyPr>
          <a:lstStyle/>
          <a:p>
            <a:pPr>
              <a:defRPr sz="1700">
                <a:solidFill>
                  <a:srgbClr val="1E1E1E"/>
                </a:solidFill>
                <a:latin typeface="Aptos"/>
              </a:defRPr>
            </a:pPr>
            <a:r>
              <a:t>A neural network takes input data, processes it through layers, learns from prediction errors, and produces an output.</a:t>
            </a:r>
          </a:p>
        </p:txBody>
      </p:sp>
      <p:sp>
        <p:nvSpPr>
          <p:cNvPr id="7" name="TextBox 6"/>
          <p:cNvSpPr txBox="1"/>
          <p:nvPr/>
        </p:nvSpPr>
        <p:spPr>
          <a:xfrm>
            <a:off x="868680" y="3657600"/>
            <a:ext cx="2194560" cy="274320"/>
          </a:xfrm>
          <a:prstGeom prst="rect">
            <a:avLst/>
          </a:prstGeom>
          <a:noFill/>
        </p:spPr>
        <p:txBody>
          <a:bodyPr wrap="square" lIns="45720" tIns="27432" rIns="45720" bIns="27432">
            <a:spAutoFit/>
          </a:bodyPr>
          <a:lstStyle/>
          <a:p>
            <a:pPr algn="l">
              <a:defRPr sz="1800" b="1">
                <a:solidFill>
                  <a:srgbClr val="A61C1C"/>
                </a:solidFill>
                <a:latin typeface="Aptos"/>
              </a:defRPr>
            </a:pPr>
            <a:r>
              <a:t>Common tasks:</a:t>
            </a:r>
          </a:p>
        </p:txBody>
      </p:sp>
      <p:sp>
        <p:nvSpPr>
          <p:cNvPr id="8" name="TextBox 7"/>
          <p:cNvSpPr txBox="1"/>
          <p:nvPr/>
        </p:nvSpPr>
        <p:spPr>
          <a:xfrm>
            <a:off x="1097280" y="4023360"/>
            <a:ext cx="7772400" cy="1828800"/>
          </a:xfrm>
          <a:prstGeom prst="rect">
            <a:avLst/>
          </a:prstGeom>
          <a:noFill/>
        </p:spPr>
        <p:txBody>
          <a:bodyPr wrap="square" lIns="45720" tIns="27432" rIns="45720" bIns="27432">
            <a:spAutoFit/>
          </a:bodyPr>
          <a:lstStyle/>
          <a:p>
            <a:pPr marL="285750" indent="-171450">
              <a:spcAft>
                <a:spcPts val="800"/>
              </a:spcAft>
              <a:defRPr sz="1800">
                <a:solidFill>
                  <a:srgbClr val="1E1E1E"/>
                </a:solidFill>
                <a:latin typeface="Aptos"/>
              </a:defRPr>
            </a:pPr>
            <a:r>
              <a:t>Image classification</a:t>
            </a:r>
          </a:p>
          <a:p>
            <a:pPr marL="285750" indent="-171450">
              <a:spcAft>
                <a:spcPts val="800"/>
              </a:spcAft>
              <a:defRPr sz="1800">
                <a:solidFill>
                  <a:srgbClr val="1E1E1E"/>
                </a:solidFill>
                <a:latin typeface="Aptos"/>
              </a:defRPr>
            </a:pPr>
            <a:r>
              <a:t>Language understanding</a:t>
            </a:r>
          </a:p>
          <a:p>
            <a:pPr marL="285750" indent="-171450">
              <a:spcAft>
                <a:spcPts val="800"/>
              </a:spcAft>
              <a:defRPr sz="1800">
                <a:solidFill>
                  <a:srgbClr val="1E1E1E"/>
                </a:solidFill>
                <a:latin typeface="Aptos"/>
              </a:defRPr>
            </a:pPr>
            <a:r>
              <a:t>Prediction and forecasting</a:t>
            </a:r>
          </a:p>
          <a:p>
            <a:pPr marL="285750" indent="-171450">
              <a:spcAft>
                <a:spcPts val="800"/>
              </a:spcAft>
              <a:defRPr sz="1800">
                <a:solidFill>
                  <a:srgbClr val="1E1E1E"/>
                </a:solidFill>
                <a:latin typeface="Aptos"/>
              </a:defRPr>
            </a:pPr>
            <a:r>
              <a:t>Pattern recognition</a:t>
            </a:r>
          </a:p>
          <a:p>
            <a:pPr marL="285750" indent="-171450">
              <a:spcAft>
                <a:spcPts val="800"/>
              </a:spcAft>
              <a:defRPr sz="1800">
                <a:solidFill>
                  <a:srgbClr val="1E1E1E"/>
                </a:solidFill>
                <a:latin typeface="Aptos"/>
              </a:defRPr>
            </a:pPr>
            <a:r>
              <a:t>Recommendation systems</a:t>
            </a:r>
          </a:p>
        </p:txBody>
      </p:sp>
      <p:sp>
        <p:nvSpPr>
          <p:cNvPr id="9" name="TextBox 8"/>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10" name="TextBox 9"/>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Overall Neural Network Architecture</a:t>
            </a:r>
          </a:p>
        </p:txBody>
      </p:sp>
      <p:sp>
        <p:nvSpPr>
          <p:cNvPr id="3" name="TextBox 2"/>
          <p:cNvSpPr txBox="1"/>
          <p:nvPr/>
        </p:nvSpPr>
        <p:spPr>
          <a:xfrm>
            <a:off x="640080" y="1143000"/>
            <a:ext cx="1645920" cy="274320"/>
          </a:xfrm>
          <a:prstGeom prst="rect">
            <a:avLst/>
          </a:prstGeom>
          <a:noFill/>
        </p:spPr>
        <p:txBody>
          <a:bodyPr wrap="square" lIns="45720" tIns="27432" rIns="45720" bIns="27432">
            <a:spAutoFit/>
          </a:bodyPr>
          <a:lstStyle/>
          <a:p>
            <a:pPr algn="ctr">
              <a:defRPr sz="1500" b="1">
                <a:solidFill>
                  <a:srgbClr val="A61C1C"/>
                </a:solidFill>
                <a:latin typeface="Aptos"/>
              </a:defRPr>
            </a:pPr>
            <a:r>
              <a:t>Input Layer</a:t>
            </a:r>
          </a:p>
        </p:txBody>
      </p:sp>
      <p:sp>
        <p:nvSpPr>
          <p:cNvPr id="4" name="TextBox 3"/>
          <p:cNvSpPr txBox="1"/>
          <p:nvPr/>
        </p:nvSpPr>
        <p:spPr>
          <a:xfrm>
            <a:off x="3200400" y="1143000"/>
            <a:ext cx="1920240" cy="274320"/>
          </a:xfrm>
          <a:prstGeom prst="rect">
            <a:avLst/>
          </a:prstGeom>
          <a:noFill/>
        </p:spPr>
        <p:txBody>
          <a:bodyPr wrap="square" lIns="45720" tIns="27432" rIns="45720" bIns="27432">
            <a:spAutoFit/>
          </a:bodyPr>
          <a:lstStyle/>
          <a:p>
            <a:pPr algn="ctr">
              <a:defRPr sz="1500" b="1">
                <a:solidFill>
                  <a:srgbClr val="A61C1C"/>
                </a:solidFill>
                <a:latin typeface="Aptos"/>
              </a:defRPr>
            </a:pPr>
            <a:r>
              <a:t>Hidden Layer 1</a:t>
            </a:r>
          </a:p>
        </p:txBody>
      </p:sp>
      <p:sp>
        <p:nvSpPr>
          <p:cNvPr id="5" name="TextBox 4"/>
          <p:cNvSpPr txBox="1"/>
          <p:nvPr/>
        </p:nvSpPr>
        <p:spPr>
          <a:xfrm>
            <a:off x="5943600" y="1143000"/>
            <a:ext cx="1920240" cy="274320"/>
          </a:xfrm>
          <a:prstGeom prst="rect">
            <a:avLst/>
          </a:prstGeom>
          <a:noFill/>
        </p:spPr>
        <p:txBody>
          <a:bodyPr wrap="square" lIns="45720" tIns="27432" rIns="45720" bIns="27432">
            <a:spAutoFit/>
          </a:bodyPr>
          <a:lstStyle/>
          <a:p>
            <a:pPr algn="ctr">
              <a:defRPr sz="1500" b="1">
                <a:solidFill>
                  <a:srgbClr val="A61C1C"/>
                </a:solidFill>
                <a:latin typeface="Aptos"/>
              </a:defRPr>
            </a:pPr>
            <a:r>
              <a:t>Hidden Layer 2</a:t>
            </a:r>
          </a:p>
        </p:txBody>
      </p:sp>
      <p:sp>
        <p:nvSpPr>
          <p:cNvPr id="6" name="TextBox 5"/>
          <p:cNvSpPr txBox="1"/>
          <p:nvPr/>
        </p:nvSpPr>
        <p:spPr>
          <a:xfrm>
            <a:off x="8961120" y="1143000"/>
            <a:ext cx="1828800" cy="274320"/>
          </a:xfrm>
          <a:prstGeom prst="rect">
            <a:avLst/>
          </a:prstGeom>
          <a:noFill/>
        </p:spPr>
        <p:txBody>
          <a:bodyPr wrap="square" lIns="45720" tIns="27432" rIns="45720" bIns="27432">
            <a:spAutoFit/>
          </a:bodyPr>
          <a:lstStyle/>
          <a:p>
            <a:pPr algn="ctr">
              <a:defRPr sz="1500" b="1">
                <a:solidFill>
                  <a:srgbClr val="A61C1C"/>
                </a:solidFill>
                <a:latin typeface="Aptos"/>
              </a:defRPr>
            </a:pPr>
            <a:r>
              <a:t>Output Layer</a:t>
            </a:r>
          </a:p>
        </p:txBody>
      </p:sp>
      <p:sp>
        <p:nvSpPr>
          <p:cNvPr id="7" name="Oval 6"/>
          <p:cNvSpPr/>
          <p:nvPr/>
        </p:nvSpPr>
        <p:spPr>
          <a:xfrm>
            <a:off x="1234440" y="1828800"/>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234440" y="2423160"/>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234440" y="3017520"/>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234440" y="3611880"/>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886200" y="1600200"/>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886200" y="2130552"/>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886200" y="2660904"/>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886200" y="3191256"/>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886200" y="3721608"/>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629400" y="1783080"/>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629400" y="2404872"/>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629400" y="3026664"/>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629400" y="3648456"/>
            <a:ext cx="310896" cy="310896"/>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646920" y="2331720"/>
            <a:ext cx="310896" cy="310896"/>
          </a:xfrm>
          <a:prstGeom prst="ellipse">
            <a:avLst/>
          </a:prstGeom>
          <a:solidFill>
            <a:srgbClr val="F8D7DA"/>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646920" y="3154679"/>
            <a:ext cx="310896" cy="310896"/>
          </a:xfrm>
          <a:prstGeom prst="ellipse">
            <a:avLst/>
          </a:prstGeom>
          <a:solidFill>
            <a:srgbClr val="F8D7DA"/>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0" y="0"/>
            <a:ext cx="0" cy="0"/>
          </a:xfrm>
          <a:prstGeom prst="line">
            <a:avLst/>
          </a:prstGeom>
          <a:ln w="8890">
            <a:solidFill>
              <a:srgbClr val="BE7878"/>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868680" y="5029200"/>
            <a:ext cx="1280160" cy="457200"/>
          </a:xfrm>
          <a:prstGeom prst="rect">
            <a:avLst/>
          </a:prstGeom>
          <a:noFill/>
        </p:spPr>
        <p:txBody>
          <a:bodyPr wrap="square" lIns="45720" tIns="27432" rIns="45720" bIns="27432">
            <a:spAutoFit/>
          </a:bodyPr>
          <a:lstStyle/>
          <a:p>
            <a:pPr algn="ctr">
              <a:defRPr sz="1300" b="0">
                <a:solidFill>
                  <a:srgbClr val="1E1E1E"/>
                </a:solidFill>
                <a:latin typeface="Aptos"/>
              </a:defRPr>
            </a:pPr>
            <a:r>
              <a:t>Raw</a:t>
            </a:r>
            <a:br/>
            <a:r>
              <a:t>features</a:t>
            </a:r>
          </a:p>
        </p:txBody>
      </p:sp>
      <p:sp>
        <p:nvSpPr>
          <p:cNvPr id="71" name="TextBox 70"/>
          <p:cNvSpPr txBox="1"/>
          <p:nvPr/>
        </p:nvSpPr>
        <p:spPr>
          <a:xfrm>
            <a:off x="3474720" y="5029200"/>
            <a:ext cx="1371600" cy="457200"/>
          </a:xfrm>
          <a:prstGeom prst="rect">
            <a:avLst/>
          </a:prstGeom>
          <a:noFill/>
        </p:spPr>
        <p:txBody>
          <a:bodyPr wrap="square" lIns="45720" tIns="27432" rIns="45720" bIns="27432">
            <a:spAutoFit/>
          </a:bodyPr>
          <a:lstStyle/>
          <a:p>
            <a:pPr algn="ctr">
              <a:defRPr sz="1300" b="0">
                <a:solidFill>
                  <a:srgbClr val="1E1E1E"/>
                </a:solidFill>
                <a:latin typeface="Aptos"/>
              </a:defRPr>
            </a:pPr>
            <a:r>
              <a:t>Pattern</a:t>
            </a:r>
            <a:br/>
            <a:r>
              <a:t>learning</a:t>
            </a:r>
          </a:p>
        </p:txBody>
      </p:sp>
      <p:sp>
        <p:nvSpPr>
          <p:cNvPr id="72" name="TextBox 71"/>
          <p:cNvSpPr txBox="1"/>
          <p:nvPr/>
        </p:nvSpPr>
        <p:spPr>
          <a:xfrm>
            <a:off x="6263640" y="5029200"/>
            <a:ext cx="1554480" cy="457200"/>
          </a:xfrm>
          <a:prstGeom prst="rect">
            <a:avLst/>
          </a:prstGeom>
          <a:noFill/>
        </p:spPr>
        <p:txBody>
          <a:bodyPr wrap="square" lIns="45720" tIns="27432" rIns="45720" bIns="27432">
            <a:spAutoFit/>
          </a:bodyPr>
          <a:lstStyle/>
          <a:p>
            <a:pPr algn="ctr">
              <a:defRPr sz="1300" b="0">
                <a:solidFill>
                  <a:srgbClr val="1E1E1E"/>
                </a:solidFill>
                <a:latin typeface="Aptos"/>
              </a:defRPr>
            </a:pPr>
            <a:r>
              <a:t>Higher-level</a:t>
            </a:r>
            <a:br/>
            <a:r>
              <a:t>patterns</a:t>
            </a:r>
          </a:p>
        </p:txBody>
      </p:sp>
      <p:sp>
        <p:nvSpPr>
          <p:cNvPr id="73" name="TextBox 72"/>
          <p:cNvSpPr txBox="1"/>
          <p:nvPr/>
        </p:nvSpPr>
        <p:spPr>
          <a:xfrm>
            <a:off x="9326880" y="5120640"/>
            <a:ext cx="1280160" cy="365760"/>
          </a:xfrm>
          <a:prstGeom prst="rect">
            <a:avLst/>
          </a:prstGeom>
          <a:noFill/>
        </p:spPr>
        <p:txBody>
          <a:bodyPr wrap="square" lIns="45720" tIns="27432" rIns="45720" bIns="27432">
            <a:spAutoFit/>
          </a:bodyPr>
          <a:lstStyle/>
          <a:p>
            <a:pPr algn="ctr">
              <a:defRPr sz="1300" b="0">
                <a:solidFill>
                  <a:srgbClr val="1E1E1E"/>
                </a:solidFill>
                <a:latin typeface="Aptos"/>
              </a:defRPr>
            </a:pPr>
            <a:r>
              <a:t>Prediction</a:t>
            </a:r>
          </a:p>
        </p:txBody>
      </p:sp>
      <p:sp>
        <p:nvSpPr>
          <p:cNvPr id="74" name="TextBox 73"/>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75" name="TextBox 74"/>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Component 1: Layers</a:t>
            </a:r>
          </a:p>
        </p:txBody>
      </p:sp>
      <p:sp>
        <p:nvSpPr>
          <p:cNvPr id="3" name="TextBox 2"/>
          <p:cNvSpPr txBox="1"/>
          <p:nvPr/>
        </p:nvSpPr>
        <p:spPr>
          <a:xfrm>
            <a:off x="731520" y="1417320"/>
            <a:ext cx="5394960" cy="3017520"/>
          </a:xfrm>
          <a:prstGeom prst="rect">
            <a:avLst/>
          </a:prstGeom>
          <a:noFill/>
        </p:spPr>
        <p:txBody>
          <a:bodyPr wrap="square" lIns="45720" tIns="27432" rIns="45720" bIns="27432">
            <a:spAutoFit/>
          </a:bodyPr>
          <a:lstStyle/>
          <a:p>
            <a:pPr marL="285750" indent="-171450">
              <a:spcAft>
                <a:spcPts val="800"/>
              </a:spcAft>
              <a:defRPr sz="2000">
                <a:solidFill>
                  <a:srgbClr val="1E1E1E"/>
                </a:solidFill>
                <a:latin typeface="Aptos"/>
              </a:defRPr>
            </a:pPr>
            <a:r>
              <a:t>Layers organize the flow of information.</a:t>
            </a:r>
          </a:p>
          <a:p>
            <a:pPr marL="285750" indent="-171450">
              <a:spcAft>
                <a:spcPts val="800"/>
              </a:spcAft>
              <a:defRPr sz="2000">
                <a:solidFill>
                  <a:srgbClr val="1E1E1E"/>
                </a:solidFill>
                <a:latin typeface="Aptos"/>
              </a:defRPr>
            </a:pPr>
            <a:r>
              <a:t>The input layer receives the original data.</a:t>
            </a:r>
          </a:p>
          <a:p>
            <a:pPr marL="285750" indent="-171450">
              <a:spcAft>
                <a:spcPts val="800"/>
              </a:spcAft>
              <a:defRPr sz="2000">
                <a:solidFill>
                  <a:srgbClr val="1E1E1E"/>
                </a:solidFill>
                <a:latin typeface="Aptos"/>
              </a:defRPr>
            </a:pPr>
            <a:r>
              <a:t>Hidden layers learn patterns.</a:t>
            </a:r>
          </a:p>
          <a:p>
            <a:pPr marL="285750" indent="-171450">
              <a:spcAft>
                <a:spcPts val="800"/>
              </a:spcAft>
              <a:defRPr sz="2000">
                <a:solidFill>
                  <a:srgbClr val="1E1E1E"/>
                </a:solidFill>
                <a:latin typeface="Aptos"/>
              </a:defRPr>
            </a:pPr>
            <a:r>
              <a:t>The output layer produces the prediction.</a:t>
            </a:r>
          </a:p>
        </p:txBody>
      </p:sp>
      <p:sp>
        <p:nvSpPr>
          <p:cNvPr id="4" name="Rounded Rectangle 3"/>
          <p:cNvSpPr/>
          <p:nvPr/>
        </p:nvSpPr>
        <p:spPr>
          <a:xfrm>
            <a:off x="6400800" y="1600200"/>
            <a:ext cx="4846320" cy="205740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0" y="1600200"/>
            <a:ext cx="4846320" cy="39319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Example</a:t>
            </a:r>
          </a:p>
        </p:txBody>
      </p:sp>
      <p:sp>
        <p:nvSpPr>
          <p:cNvPr id="6" name="TextBox 5"/>
          <p:cNvSpPr txBox="1"/>
          <p:nvPr/>
        </p:nvSpPr>
        <p:spPr>
          <a:xfrm>
            <a:off x="6537960" y="2075688"/>
            <a:ext cx="4572000" cy="1527048"/>
          </a:xfrm>
          <a:prstGeom prst="rect">
            <a:avLst/>
          </a:prstGeom>
          <a:noFill/>
        </p:spPr>
        <p:txBody>
          <a:bodyPr wrap="square" lIns="18288" tIns="18288" rIns="18288" bIns="18288">
            <a:spAutoFit/>
          </a:bodyPr>
          <a:lstStyle/>
          <a:p>
            <a:pPr>
              <a:defRPr sz="1700">
                <a:solidFill>
                  <a:srgbClr val="1E1E1E"/>
                </a:solidFill>
                <a:latin typeface="Aptos"/>
              </a:defRPr>
            </a:pPr>
            <a:r>
              <a:t>In image classification, early layers may detect edges, deeper layers may detect shapes, and the output layer predicts the image class.</a:t>
            </a:r>
          </a:p>
        </p:txBody>
      </p:sp>
      <p:sp>
        <p:nvSpPr>
          <p:cNvPr id="7" name="Rounded Rectangle 6"/>
          <p:cNvSpPr/>
          <p:nvPr/>
        </p:nvSpPr>
        <p:spPr>
          <a:xfrm>
            <a:off x="6400800" y="3977639"/>
            <a:ext cx="4846320" cy="132588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0" y="3977639"/>
            <a:ext cx="4846320" cy="39319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Key Point</a:t>
            </a:r>
          </a:p>
        </p:txBody>
      </p:sp>
      <p:sp>
        <p:nvSpPr>
          <p:cNvPr id="9" name="TextBox 8"/>
          <p:cNvSpPr txBox="1"/>
          <p:nvPr/>
        </p:nvSpPr>
        <p:spPr>
          <a:xfrm>
            <a:off x="6537960" y="4453127"/>
            <a:ext cx="4572000" cy="795528"/>
          </a:xfrm>
          <a:prstGeom prst="rect">
            <a:avLst/>
          </a:prstGeom>
          <a:noFill/>
        </p:spPr>
        <p:txBody>
          <a:bodyPr wrap="square" lIns="18288" tIns="18288" rIns="18288" bIns="18288">
            <a:spAutoFit/>
          </a:bodyPr>
          <a:lstStyle/>
          <a:p>
            <a:pPr>
              <a:defRPr sz="1600">
                <a:solidFill>
                  <a:srgbClr val="1E1E1E"/>
                </a:solidFill>
                <a:latin typeface="Aptos"/>
              </a:defRPr>
            </a:pPr>
            <a:r>
              <a:t>A neural network becomes more powerful when layers work together to transform raw inputs into useful predictions.</a:t>
            </a:r>
          </a:p>
        </p:txBody>
      </p:sp>
      <p:sp>
        <p:nvSpPr>
          <p:cNvPr id="10" name="TextBox 9"/>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11" name="TextBox 10"/>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Component 2: Neurons</a:t>
            </a:r>
          </a:p>
        </p:txBody>
      </p:sp>
      <p:sp>
        <p:nvSpPr>
          <p:cNvPr id="3" name="Rounded Rectangle 2"/>
          <p:cNvSpPr/>
          <p:nvPr/>
        </p:nvSpPr>
        <p:spPr>
          <a:xfrm>
            <a:off x="731520" y="1143000"/>
            <a:ext cx="10698480" cy="105156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143000"/>
            <a:ext cx="10698480" cy="315468"/>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Definition</a:t>
            </a:r>
          </a:p>
        </p:txBody>
      </p:sp>
      <p:sp>
        <p:nvSpPr>
          <p:cNvPr id="5" name="TextBox 4"/>
          <p:cNvSpPr txBox="1"/>
          <p:nvPr/>
        </p:nvSpPr>
        <p:spPr>
          <a:xfrm>
            <a:off x="868680" y="1540764"/>
            <a:ext cx="10424159" cy="598931"/>
          </a:xfrm>
          <a:prstGeom prst="rect">
            <a:avLst/>
          </a:prstGeom>
          <a:noFill/>
        </p:spPr>
        <p:txBody>
          <a:bodyPr wrap="square" lIns="18288" tIns="18288" rIns="18288" bIns="18288">
            <a:spAutoFit/>
          </a:bodyPr>
          <a:lstStyle/>
          <a:p>
            <a:pPr>
              <a:defRPr sz="1700">
                <a:solidFill>
                  <a:srgbClr val="1E1E1E"/>
                </a:solidFill>
                <a:latin typeface="Aptos"/>
              </a:defRPr>
            </a:pPr>
            <a:r>
              <a:t>A neuron is a processing unit that combines inputs, weights, and bias, then sends the result through an activation function.</a:t>
            </a:r>
          </a:p>
        </p:txBody>
      </p:sp>
      <p:sp>
        <p:nvSpPr>
          <p:cNvPr id="6" name="Rounded Rectangle 5"/>
          <p:cNvSpPr/>
          <p:nvPr/>
        </p:nvSpPr>
        <p:spPr>
          <a:xfrm>
            <a:off x="1188720" y="2514600"/>
            <a:ext cx="9784080" cy="1417320"/>
          </a:xfrm>
          <a:prstGeom prst="roundRect">
            <a:avLst/>
          </a:prstGeom>
          <a:solidFill>
            <a:srgbClr val="FFF7F7"/>
          </a:solidFill>
          <a:ln w="1905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20240" y="2761488"/>
            <a:ext cx="8321040" cy="365760"/>
          </a:xfrm>
          <a:prstGeom prst="rect">
            <a:avLst/>
          </a:prstGeom>
          <a:noFill/>
        </p:spPr>
        <p:txBody>
          <a:bodyPr wrap="square" lIns="45720" tIns="27432" rIns="45720" bIns="27432">
            <a:spAutoFit/>
          </a:bodyPr>
          <a:lstStyle/>
          <a:p>
            <a:pPr algn="ctr">
              <a:defRPr sz="2600" b="1">
                <a:solidFill>
                  <a:srgbClr val="A61C1C"/>
                </a:solidFill>
                <a:latin typeface="Aptos"/>
              </a:defRPr>
            </a:pPr>
            <a:r>
              <a:t>z = w₁x₁ + w₂x₂ + ... + wₙxₙ + b</a:t>
            </a:r>
          </a:p>
        </p:txBody>
      </p:sp>
      <p:sp>
        <p:nvSpPr>
          <p:cNvPr id="8" name="TextBox 7"/>
          <p:cNvSpPr txBox="1"/>
          <p:nvPr/>
        </p:nvSpPr>
        <p:spPr>
          <a:xfrm>
            <a:off x="1920240" y="3310128"/>
            <a:ext cx="8321040" cy="365760"/>
          </a:xfrm>
          <a:prstGeom prst="rect">
            <a:avLst/>
          </a:prstGeom>
          <a:noFill/>
        </p:spPr>
        <p:txBody>
          <a:bodyPr wrap="square" lIns="45720" tIns="27432" rIns="45720" bIns="27432">
            <a:spAutoFit/>
          </a:bodyPr>
          <a:lstStyle/>
          <a:p>
            <a:pPr algn="ctr">
              <a:defRPr sz="2600" b="1">
                <a:solidFill>
                  <a:srgbClr val="A61C1C"/>
                </a:solidFill>
                <a:latin typeface="Aptos"/>
              </a:defRPr>
            </a:pPr>
            <a:r>
              <a:t>a = f(z)</a:t>
            </a:r>
          </a:p>
        </p:txBody>
      </p:sp>
      <p:sp>
        <p:nvSpPr>
          <p:cNvPr id="9" name="TextBox 8"/>
          <p:cNvSpPr txBox="1"/>
          <p:nvPr/>
        </p:nvSpPr>
        <p:spPr>
          <a:xfrm>
            <a:off x="1097280" y="4251960"/>
            <a:ext cx="9692640" cy="1463040"/>
          </a:xfrm>
          <a:prstGeom prst="rect">
            <a:avLst/>
          </a:prstGeom>
          <a:noFill/>
        </p:spPr>
        <p:txBody>
          <a:bodyPr wrap="square" lIns="45720" tIns="27432" rIns="45720" bIns="27432">
            <a:spAutoFit/>
          </a:bodyPr>
          <a:lstStyle/>
          <a:p>
            <a:pPr marL="285750" indent="-171450">
              <a:spcAft>
                <a:spcPts val="800"/>
              </a:spcAft>
              <a:defRPr sz="1700">
                <a:solidFill>
                  <a:srgbClr val="1E1E1E"/>
                </a:solidFill>
                <a:latin typeface="Aptos"/>
              </a:defRPr>
            </a:pPr>
            <a:r>
              <a:t>x = input values</a:t>
            </a:r>
          </a:p>
          <a:p>
            <a:pPr marL="285750" indent="-171450">
              <a:spcAft>
                <a:spcPts val="800"/>
              </a:spcAft>
              <a:defRPr sz="1700">
                <a:solidFill>
                  <a:srgbClr val="1E1E1E"/>
                </a:solidFill>
                <a:latin typeface="Aptos"/>
              </a:defRPr>
            </a:pPr>
            <a:r>
              <a:t>w = weights</a:t>
            </a:r>
          </a:p>
          <a:p>
            <a:pPr marL="285750" indent="-171450">
              <a:spcAft>
                <a:spcPts val="800"/>
              </a:spcAft>
              <a:defRPr sz="1700">
                <a:solidFill>
                  <a:srgbClr val="1E1E1E"/>
                </a:solidFill>
                <a:latin typeface="Aptos"/>
              </a:defRPr>
            </a:pPr>
            <a:r>
              <a:t>b = bias</a:t>
            </a:r>
          </a:p>
          <a:p>
            <a:pPr marL="285750" indent="-171450">
              <a:spcAft>
                <a:spcPts val="800"/>
              </a:spcAft>
              <a:defRPr sz="1700">
                <a:solidFill>
                  <a:srgbClr val="1E1E1E"/>
                </a:solidFill>
                <a:latin typeface="Aptos"/>
              </a:defRPr>
            </a:pPr>
            <a:r>
              <a:t>f(z) = activation function</a:t>
            </a:r>
          </a:p>
          <a:p>
            <a:pPr marL="285750" indent="-171450">
              <a:spcAft>
                <a:spcPts val="800"/>
              </a:spcAft>
              <a:defRPr sz="1700">
                <a:solidFill>
                  <a:srgbClr val="1E1E1E"/>
                </a:solidFill>
                <a:latin typeface="Aptos"/>
              </a:defRPr>
            </a:pPr>
            <a:r>
              <a:t>a = neuron output</a:t>
            </a:r>
          </a:p>
        </p:txBody>
      </p:sp>
      <p:sp>
        <p:nvSpPr>
          <p:cNvPr id="10" name="TextBox 9"/>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11" name="TextBox 10"/>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Component 3: Weights</a:t>
            </a:r>
          </a:p>
        </p:txBody>
      </p:sp>
      <p:sp>
        <p:nvSpPr>
          <p:cNvPr id="3" name="Rounded Rectangle 2"/>
          <p:cNvSpPr/>
          <p:nvPr/>
        </p:nvSpPr>
        <p:spPr>
          <a:xfrm>
            <a:off x="777240" y="1143000"/>
            <a:ext cx="10607040" cy="91440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143000"/>
            <a:ext cx="10607040" cy="27432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Definition</a:t>
            </a:r>
          </a:p>
        </p:txBody>
      </p:sp>
      <p:sp>
        <p:nvSpPr>
          <p:cNvPr id="5" name="TextBox 4"/>
          <p:cNvSpPr txBox="1"/>
          <p:nvPr/>
        </p:nvSpPr>
        <p:spPr>
          <a:xfrm>
            <a:off x="914400" y="1499616"/>
            <a:ext cx="10332719" cy="502919"/>
          </a:xfrm>
          <a:prstGeom prst="rect">
            <a:avLst/>
          </a:prstGeom>
          <a:noFill/>
        </p:spPr>
        <p:txBody>
          <a:bodyPr wrap="square" lIns="18288" tIns="18288" rIns="18288" bIns="18288">
            <a:spAutoFit/>
          </a:bodyPr>
          <a:lstStyle/>
          <a:p>
            <a:pPr>
              <a:defRPr sz="1800">
                <a:solidFill>
                  <a:srgbClr val="1E1E1E"/>
                </a:solidFill>
                <a:latin typeface="Aptos"/>
              </a:defRPr>
            </a:pPr>
            <a:r>
              <a:t>Weights control the strength of connections between neurons.</a:t>
            </a:r>
          </a:p>
        </p:txBody>
      </p:sp>
      <p:sp>
        <p:nvSpPr>
          <p:cNvPr id="6" name="TextBox 5"/>
          <p:cNvSpPr txBox="1"/>
          <p:nvPr/>
        </p:nvSpPr>
        <p:spPr>
          <a:xfrm>
            <a:off x="914400" y="2423160"/>
            <a:ext cx="5943600" cy="2011680"/>
          </a:xfrm>
          <a:prstGeom prst="rect">
            <a:avLst/>
          </a:prstGeom>
          <a:noFill/>
        </p:spPr>
        <p:txBody>
          <a:bodyPr wrap="square" lIns="45720" tIns="27432" rIns="45720" bIns="27432">
            <a:spAutoFit/>
          </a:bodyPr>
          <a:lstStyle/>
          <a:p>
            <a:pPr marL="285750" indent="-171450">
              <a:spcAft>
                <a:spcPts val="800"/>
              </a:spcAft>
              <a:defRPr sz="2000">
                <a:solidFill>
                  <a:srgbClr val="1E1E1E"/>
                </a:solidFill>
                <a:latin typeface="Aptos"/>
              </a:defRPr>
            </a:pPr>
            <a:r>
              <a:t>A larger weight gives an input more influence.</a:t>
            </a:r>
          </a:p>
          <a:p>
            <a:pPr marL="285750" indent="-171450">
              <a:spcAft>
                <a:spcPts val="800"/>
              </a:spcAft>
              <a:defRPr sz="2000">
                <a:solidFill>
                  <a:srgbClr val="1E1E1E"/>
                </a:solidFill>
                <a:latin typeface="Aptos"/>
              </a:defRPr>
            </a:pPr>
            <a:r>
              <a:t>A smaller weight gives an input less influence.</a:t>
            </a:r>
          </a:p>
          <a:p>
            <a:pPr marL="285750" indent="-171450">
              <a:spcAft>
                <a:spcPts val="800"/>
              </a:spcAft>
              <a:defRPr sz="2000">
                <a:solidFill>
                  <a:srgbClr val="1E1E1E"/>
                </a:solidFill>
                <a:latin typeface="Aptos"/>
              </a:defRPr>
            </a:pPr>
            <a:r>
              <a:t>During training, the network updates weights to reduce prediction error.</a:t>
            </a:r>
          </a:p>
        </p:txBody>
      </p:sp>
      <p:sp>
        <p:nvSpPr>
          <p:cNvPr id="7" name="Rounded Rectangle 6"/>
          <p:cNvSpPr/>
          <p:nvPr/>
        </p:nvSpPr>
        <p:spPr>
          <a:xfrm>
            <a:off x="7086600" y="2423160"/>
            <a:ext cx="4297680" cy="164592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086600" y="2423160"/>
            <a:ext cx="4297680" cy="39319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Simple Example</a:t>
            </a:r>
          </a:p>
        </p:txBody>
      </p:sp>
      <p:sp>
        <p:nvSpPr>
          <p:cNvPr id="9" name="TextBox 8"/>
          <p:cNvSpPr txBox="1"/>
          <p:nvPr/>
        </p:nvSpPr>
        <p:spPr>
          <a:xfrm>
            <a:off x="7223760" y="2898648"/>
            <a:ext cx="4023360" cy="1115568"/>
          </a:xfrm>
          <a:prstGeom prst="rect">
            <a:avLst/>
          </a:prstGeom>
          <a:noFill/>
        </p:spPr>
        <p:txBody>
          <a:bodyPr wrap="square" lIns="18288" tIns="18288" rIns="18288" bIns="18288">
            <a:spAutoFit/>
          </a:bodyPr>
          <a:lstStyle/>
          <a:p>
            <a:pPr>
              <a:defRPr sz="1700">
                <a:solidFill>
                  <a:srgbClr val="1E1E1E"/>
                </a:solidFill>
                <a:latin typeface="Aptos"/>
              </a:defRPr>
            </a:pPr>
            <a:r>
              <a:t>If a feature is very useful for prediction, the network may learn to give it a stronger weight.</a:t>
            </a:r>
          </a:p>
        </p:txBody>
      </p:sp>
      <p:sp>
        <p:nvSpPr>
          <p:cNvPr id="10" name="Oval 9"/>
          <p:cNvSpPr/>
          <p:nvPr/>
        </p:nvSpPr>
        <p:spPr>
          <a:xfrm>
            <a:off x="7498079" y="4663440"/>
            <a:ext cx="347472" cy="347472"/>
          </a:xfrm>
          <a:prstGeom prst="ellipse">
            <a:avLst/>
          </a:prstGeom>
          <a:solidFill>
            <a:srgbClr val="FCE5E5"/>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149840" y="4663440"/>
            <a:ext cx="347472" cy="347472"/>
          </a:xfrm>
          <a:prstGeom prst="ellipse">
            <a:avLst/>
          </a:prstGeom>
          <a:solidFill>
            <a:srgbClr val="F8D7DA"/>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0" y="0"/>
            <a:ext cx="0" cy="0"/>
          </a:xfrm>
          <a:prstGeom prst="line">
            <a:avLst/>
          </a:prstGeom>
          <a:ln w="31750">
            <a:solidFill>
              <a:srgbClr val="A61C1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0" y="4343400"/>
            <a:ext cx="1828800" cy="320040"/>
          </a:xfrm>
          <a:prstGeom prst="rect">
            <a:avLst/>
          </a:prstGeom>
          <a:noFill/>
        </p:spPr>
        <p:txBody>
          <a:bodyPr wrap="square" lIns="45720" tIns="27432" rIns="45720" bIns="27432">
            <a:spAutoFit/>
          </a:bodyPr>
          <a:lstStyle/>
          <a:p>
            <a:pPr algn="ctr">
              <a:defRPr sz="1300" b="1">
                <a:solidFill>
                  <a:srgbClr val="A61C1C"/>
                </a:solidFill>
                <a:latin typeface="Aptos"/>
              </a:defRPr>
            </a:pPr>
            <a:r>
              <a:t>stronger weight</a:t>
            </a:r>
          </a:p>
        </p:txBody>
      </p:sp>
      <p:sp>
        <p:nvSpPr>
          <p:cNvPr id="14" name="TextBox 13"/>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15" name="TextBox 14"/>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Component 4: Activation Functions</a:t>
            </a:r>
          </a:p>
        </p:txBody>
      </p:sp>
      <p:sp>
        <p:nvSpPr>
          <p:cNvPr id="3" name="Rounded Rectangle 2"/>
          <p:cNvSpPr/>
          <p:nvPr/>
        </p:nvSpPr>
        <p:spPr>
          <a:xfrm>
            <a:off x="731520" y="1143000"/>
            <a:ext cx="10744200" cy="100584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143000"/>
            <a:ext cx="10744200" cy="30175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Definition</a:t>
            </a:r>
          </a:p>
        </p:txBody>
      </p:sp>
      <p:sp>
        <p:nvSpPr>
          <p:cNvPr id="5" name="TextBox 4"/>
          <p:cNvSpPr txBox="1"/>
          <p:nvPr/>
        </p:nvSpPr>
        <p:spPr>
          <a:xfrm>
            <a:off x="868680" y="1527048"/>
            <a:ext cx="10469880" cy="566928"/>
          </a:xfrm>
          <a:prstGeom prst="rect">
            <a:avLst/>
          </a:prstGeom>
          <a:noFill/>
        </p:spPr>
        <p:txBody>
          <a:bodyPr wrap="square" lIns="18288" tIns="18288" rIns="18288" bIns="18288">
            <a:spAutoFit/>
          </a:bodyPr>
          <a:lstStyle/>
          <a:p>
            <a:pPr>
              <a:defRPr sz="1700">
                <a:solidFill>
                  <a:srgbClr val="1E1E1E"/>
                </a:solidFill>
                <a:latin typeface="Aptos"/>
              </a:defRPr>
            </a:pPr>
            <a:r>
              <a:t>Activation functions help neural networks learn non-linear patterns by deciding how strongly a neuron should pass information forward.</a:t>
            </a:r>
          </a:p>
        </p:txBody>
      </p:sp>
      <p:graphicFrame>
        <p:nvGraphicFramePr>
          <p:cNvPr id="6" name="Table 5"/>
          <p:cNvGraphicFramePr>
            <a:graphicFrameLocks noGrp="1"/>
          </p:cNvGraphicFramePr>
          <p:nvPr/>
        </p:nvGraphicFramePr>
        <p:xfrm>
          <a:off x="914400" y="2560320"/>
          <a:ext cx="10332720" cy="23774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75488">
                <a:tc>
                  <a:txBody>
                    <a:bodyPr/>
                    <a:lstStyle/>
                    <a:p>
                      <a:pPr algn="ctr">
                        <a:defRPr sz="1500" b="1">
                          <a:solidFill>
                            <a:srgbClr val="FFFFFF"/>
                          </a:solidFill>
                          <a:latin typeface="Aptos"/>
                        </a:defRPr>
                      </a:pPr>
                      <a:r>
                        <a:t>Activation</a:t>
                      </a:r>
                    </a:p>
                  </a:txBody>
                  <a:tcPr>
                    <a:solidFill>
                      <a:srgbClr val="8B0000"/>
                    </a:solidFill>
                  </a:tcPr>
                </a:tc>
                <a:tc>
                  <a:txBody>
                    <a:bodyPr/>
                    <a:lstStyle/>
                    <a:p>
                      <a:pPr algn="ctr">
                        <a:defRPr sz="1500" b="1">
                          <a:solidFill>
                            <a:srgbClr val="FFFFFF"/>
                          </a:solidFill>
                          <a:latin typeface="Aptos"/>
                        </a:defRPr>
                      </a:pPr>
                      <a:r>
                        <a:t>Purpose</a:t>
                      </a:r>
                    </a:p>
                  </a:txBody>
                  <a:tcPr>
                    <a:solidFill>
                      <a:srgbClr val="8B0000"/>
                    </a:solidFill>
                  </a:tcPr>
                </a:tc>
                <a:tc>
                  <a:txBody>
                    <a:bodyPr/>
                    <a:lstStyle/>
                    <a:p>
                      <a:pPr algn="ctr">
                        <a:defRPr sz="1500" b="1">
                          <a:solidFill>
                            <a:srgbClr val="FFFFFF"/>
                          </a:solidFill>
                          <a:latin typeface="Aptos"/>
                        </a:defRPr>
                      </a:pPr>
                      <a:r>
                        <a:t>Common Use</a:t>
                      </a:r>
                    </a:p>
                  </a:txBody>
                  <a:tcPr>
                    <a:solidFill>
                      <a:srgbClr val="8B0000"/>
                    </a:solidFill>
                  </a:tcPr>
                </a:tc>
                <a:extLst>
                  <a:ext uri="{0D108BD9-81ED-4DB2-BD59-A6C34878D82A}">
                    <a16:rowId xmlns:a16="http://schemas.microsoft.com/office/drawing/2014/main" val="10000"/>
                  </a:ext>
                </a:extLst>
              </a:tr>
              <a:tr h="475488">
                <a:tc>
                  <a:txBody>
                    <a:bodyPr/>
                    <a:lstStyle/>
                    <a:p>
                      <a:pPr>
                        <a:defRPr sz="1500">
                          <a:solidFill>
                            <a:srgbClr val="1E1E1E"/>
                          </a:solidFill>
                          <a:latin typeface="Aptos"/>
                        </a:defRPr>
                      </a:pPr>
                      <a:r>
                        <a:t>ReLU</a:t>
                      </a:r>
                    </a:p>
                  </a:txBody>
                  <a:tcPr>
                    <a:solidFill>
                      <a:srgbClr val="FFF7F7"/>
                    </a:solidFill>
                  </a:tcPr>
                </a:tc>
                <a:tc>
                  <a:txBody>
                    <a:bodyPr/>
                    <a:lstStyle/>
                    <a:p>
                      <a:pPr>
                        <a:defRPr sz="1500">
                          <a:solidFill>
                            <a:srgbClr val="1E1E1E"/>
                          </a:solidFill>
                          <a:latin typeface="Aptos"/>
                        </a:defRPr>
                      </a:pPr>
                      <a:r>
                        <a:t>Keeps positive values</a:t>
                      </a:r>
                    </a:p>
                  </a:txBody>
                  <a:tcPr>
                    <a:solidFill>
                      <a:srgbClr val="FFF7F7"/>
                    </a:solidFill>
                  </a:tcPr>
                </a:tc>
                <a:tc>
                  <a:txBody>
                    <a:bodyPr/>
                    <a:lstStyle/>
                    <a:p>
                      <a:pPr>
                        <a:defRPr sz="1500">
                          <a:solidFill>
                            <a:srgbClr val="1E1E1E"/>
                          </a:solidFill>
                          <a:latin typeface="Aptos"/>
                        </a:defRPr>
                      </a:pPr>
                      <a:r>
                        <a:t>Hidden layers</a:t>
                      </a:r>
                    </a:p>
                  </a:txBody>
                  <a:tcPr>
                    <a:solidFill>
                      <a:srgbClr val="FFF7F7"/>
                    </a:solidFill>
                  </a:tcPr>
                </a:tc>
                <a:extLst>
                  <a:ext uri="{0D108BD9-81ED-4DB2-BD59-A6C34878D82A}">
                    <a16:rowId xmlns:a16="http://schemas.microsoft.com/office/drawing/2014/main" val="10001"/>
                  </a:ext>
                </a:extLst>
              </a:tr>
              <a:tr h="475488">
                <a:tc>
                  <a:txBody>
                    <a:bodyPr/>
                    <a:lstStyle/>
                    <a:p>
                      <a:pPr>
                        <a:defRPr sz="1500">
                          <a:solidFill>
                            <a:srgbClr val="1E1E1E"/>
                          </a:solidFill>
                          <a:latin typeface="Aptos"/>
                        </a:defRPr>
                      </a:pPr>
                      <a:r>
                        <a:t>Sigmoid</a:t>
                      </a:r>
                    </a:p>
                  </a:txBody>
                  <a:tcPr>
                    <a:solidFill>
                      <a:srgbClr val="FCE5E5"/>
                    </a:solidFill>
                  </a:tcPr>
                </a:tc>
                <a:tc>
                  <a:txBody>
                    <a:bodyPr/>
                    <a:lstStyle/>
                    <a:p>
                      <a:pPr>
                        <a:defRPr sz="1500">
                          <a:solidFill>
                            <a:srgbClr val="1E1E1E"/>
                          </a:solidFill>
                          <a:latin typeface="Aptos"/>
                        </a:defRPr>
                      </a:pPr>
                      <a:r>
                        <a:t>Outputs 0 to 1</a:t>
                      </a:r>
                    </a:p>
                  </a:txBody>
                  <a:tcPr>
                    <a:solidFill>
                      <a:srgbClr val="FCE5E5"/>
                    </a:solidFill>
                  </a:tcPr>
                </a:tc>
                <a:tc>
                  <a:txBody>
                    <a:bodyPr/>
                    <a:lstStyle/>
                    <a:p>
                      <a:pPr>
                        <a:defRPr sz="1500">
                          <a:solidFill>
                            <a:srgbClr val="1E1E1E"/>
                          </a:solidFill>
                          <a:latin typeface="Aptos"/>
                        </a:defRPr>
                      </a:pPr>
                      <a:r>
                        <a:t>Binary classification</a:t>
                      </a:r>
                    </a:p>
                  </a:txBody>
                  <a:tcPr>
                    <a:solidFill>
                      <a:srgbClr val="FCE5E5"/>
                    </a:solidFill>
                  </a:tcPr>
                </a:tc>
                <a:extLst>
                  <a:ext uri="{0D108BD9-81ED-4DB2-BD59-A6C34878D82A}">
                    <a16:rowId xmlns:a16="http://schemas.microsoft.com/office/drawing/2014/main" val="10002"/>
                  </a:ext>
                </a:extLst>
              </a:tr>
              <a:tr h="475488">
                <a:tc>
                  <a:txBody>
                    <a:bodyPr/>
                    <a:lstStyle/>
                    <a:p>
                      <a:pPr>
                        <a:defRPr sz="1500">
                          <a:solidFill>
                            <a:srgbClr val="1E1E1E"/>
                          </a:solidFill>
                          <a:latin typeface="Aptos"/>
                        </a:defRPr>
                      </a:pPr>
                      <a:r>
                        <a:t>Softmax</a:t>
                      </a:r>
                    </a:p>
                  </a:txBody>
                  <a:tcPr>
                    <a:solidFill>
                      <a:srgbClr val="FFF7F7"/>
                    </a:solidFill>
                  </a:tcPr>
                </a:tc>
                <a:tc>
                  <a:txBody>
                    <a:bodyPr/>
                    <a:lstStyle/>
                    <a:p>
                      <a:pPr>
                        <a:defRPr sz="1500">
                          <a:solidFill>
                            <a:srgbClr val="1E1E1E"/>
                          </a:solidFill>
                          <a:latin typeface="Aptos"/>
                        </a:defRPr>
                      </a:pPr>
                      <a:r>
                        <a:t>Converts scores to probabilities</a:t>
                      </a:r>
                    </a:p>
                  </a:txBody>
                  <a:tcPr>
                    <a:solidFill>
                      <a:srgbClr val="FFF7F7"/>
                    </a:solidFill>
                  </a:tcPr>
                </a:tc>
                <a:tc>
                  <a:txBody>
                    <a:bodyPr/>
                    <a:lstStyle/>
                    <a:p>
                      <a:pPr>
                        <a:defRPr sz="1500">
                          <a:solidFill>
                            <a:srgbClr val="1E1E1E"/>
                          </a:solidFill>
                          <a:latin typeface="Aptos"/>
                        </a:defRPr>
                      </a:pPr>
                      <a:r>
                        <a:t>Multi-class classification</a:t>
                      </a:r>
                    </a:p>
                  </a:txBody>
                  <a:tcPr>
                    <a:solidFill>
                      <a:srgbClr val="FFF7F7"/>
                    </a:solidFill>
                  </a:tcPr>
                </a:tc>
                <a:extLst>
                  <a:ext uri="{0D108BD9-81ED-4DB2-BD59-A6C34878D82A}">
                    <a16:rowId xmlns:a16="http://schemas.microsoft.com/office/drawing/2014/main" val="10003"/>
                  </a:ext>
                </a:extLst>
              </a:tr>
              <a:tr h="475488">
                <a:tc>
                  <a:txBody>
                    <a:bodyPr/>
                    <a:lstStyle/>
                    <a:p>
                      <a:pPr>
                        <a:defRPr sz="1500">
                          <a:solidFill>
                            <a:srgbClr val="1E1E1E"/>
                          </a:solidFill>
                          <a:latin typeface="Aptos"/>
                        </a:defRPr>
                      </a:pPr>
                      <a:r>
                        <a:t>Tanh</a:t>
                      </a:r>
                    </a:p>
                  </a:txBody>
                  <a:tcPr>
                    <a:solidFill>
                      <a:srgbClr val="FCE5E5"/>
                    </a:solidFill>
                  </a:tcPr>
                </a:tc>
                <a:tc>
                  <a:txBody>
                    <a:bodyPr/>
                    <a:lstStyle/>
                    <a:p>
                      <a:pPr>
                        <a:defRPr sz="1500">
                          <a:solidFill>
                            <a:srgbClr val="1E1E1E"/>
                          </a:solidFill>
                          <a:latin typeface="Aptos"/>
                        </a:defRPr>
                      </a:pPr>
                      <a:r>
                        <a:t>Outputs -1 to 1</a:t>
                      </a:r>
                    </a:p>
                  </a:txBody>
                  <a:tcPr>
                    <a:solidFill>
                      <a:srgbClr val="FCE5E5"/>
                    </a:solidFill>
                  </a:tcPr>
                </a:tc>
                <a:tc>
                  <a:txBody>
                    <a:bodyPr/>
                    <a:lstStyle/>
                    <a:p>
                      <a:pPr>
                        <a:defRPr sz="1500">
                          <a:solidFill>
                            <a:srgbClr val="1E1E1E"/>
                          </a:solidFill>
                          <a:latin typeface="Aptos"/>
                        </a:defRPr>
                      </a:pPr>
                      <a:r>
                        <a:t>Some hidden layers</a:t>
                      </a:r>
                    </a:p>
                  </a:txBody>
                  <a:tcPr>
                    <a:solidFill>
                      <a:srgbClr val="FCE5E5"/>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8" name="TextBox 7"/>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Component 5: Loss Functions</a:t>
            </a:r>
          </a:p>
        </p:txBody>
      </p:sp>
      <p:sp>
        <p:nvSpPr>
          <p:cNvPr id="3" name="Rounded Rectangle 2"/>
          <p:cNvSpPr/>
          <p:nvPr/>
        </p:nvSpPr>
        <p:spPr>
          <a:xfrm>
            <a:off x="731520" y="1143000"/>
            <a:ext cx="10744200" cy="96012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143000"/>
            <a:ext cx="10744200" cy="288036"/>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Definition</a:t>
            </a:r>
          </a:p>
        </p:txBody>
      </p:sp>
      <p:sp>
        <p:nvSpPr>
          <p:cNvPr id="5" name="TextBox 4"/>
          <p:cNvSpPr txBox="1"/>
          <p:nvPr/>
        </p:nvSpPr>
        <p:spPr>
          <a:xfrm>
            <a:off x="868680" y="1513332"/>
            <a:ext cx="10469880" cy="534924"/>
          </a:xfrm>
          <a:prstGeom prst="rect">
            <a:avLst/>
          </a:prstGeom>
          <a:noFill/>
        </p:spPr>
        <p:txBody>
          <a:bodyPr wrap="square" lIns="18288" tIns="18288" rIns="18288" bIns="18288">
            <a:spAutoFit/>
          </a:bodyPr>
          <a:lstStyle/>
          <a:p>
            <a:pPr>
              <a:defRPr sz="1800">
                <a:solidFill>
                  <a:srgbClr val="1E1E1E"/>
                </a:solidFill>
                <a:latin typeface="Aptos"/>
              </a:defRPr>
            </a:pPr>
            <a:r>
              <a:t>A loss function measures how far the model's prediction is from the correct answer.</a:t>
            </a:r>
          </a:p>
        </p:txBody>
      </p:sp>
      <p:sp>
        <p:nvSpPr>
          <p:cNvPr id="6" name="TextBox 5"/>
          <p:cNvSpPr txBox="1"/>
          <p:nvPr/>
        </p:nvSpPr>
        <p:spPr>
          <a:xfrm>
            <a:off x="914400" y="2423160"/>
            <a:ext cx="5486400" cy="1828800"/>
          </a:xfrm>
          <a:prstGeom prst="rect">
            <a:avLst/>
          </a:prstGeom>
          <a:noFill/>
        </p:spPr>
        <p:txBody>
          <a:bodyPr wrap="square" lIns="45720" tIns="27432" rIns="45720" bIns="27432">
            <a:spAutoFit/>
          </a:bodyPr>
          <a:lstStyle/>
          <a:p>
            <a:pPr marL="285750" indent="-171450">
              <a:spcAft>
                <a:spcPts val="800"/>
              </a:spcAft>
              <a:defRPr sz="1900">
                <a:solidFill>
                  <a:srgbClr val="1E1E1E"/>
                </a:solidFill>
                <a:latin typeface="Aptos"/>
              </a:defRPr>
            </a:pPr>
            <a:r>
              <a:t>Low loss means the model is performing well.</a:t>
            </a:r>
          </a:p>
          <a:p>
            <a:pPr marL="285750" indent="-171450">
              <a:spcAft>
                <a:spcPts val="800"/>
              </a:spcAft>
              <a:defRPr sz="1900">
                <a:solidFill>
                  <a:srgbClr val="1E1E1E"/>
                </a:solidFill>
                <a:latin typeface="Aptos"/>
              </a:defRPr>
            </a:pPr>
            <a:r>
              <a:t>High loss means the model is making larger errors.</a:t>
            </a:r>
          </a:p>
          <a:p>
            <a:pPr marL="285750" indent="-171450">
              <a:spcAft>
                <a:spcPts val="800"/>
              </a:spcAft>
              <a:defRPr sz="1900">
                <a:solidFill>
                  <a:srgbClr val="1E1E1E"/>
                </a:solidFill>
                <a:latin typeface="Aptos"/>
              </a:defRPr>
            </a:pPr>
            <a:r>
              <a:t>Training tries to reduce the loss over time.</a:t>
            </a:r>
          </a:p>
        </p:txBody>
      </p:sp>
      <p:graphicFrame>
        <p:nvGraphicFramePr>
          <p:cNvPr id="7" name="Table 6"/>
          <p:cNvGraphicFramePr>
            <a:graphicFrameLocks noGrp="1"/>
          </p:cNvGraphicFramePr>
          <p:nvPr/>
        </p:nvGraphicFramePr>
        <p:xfrm>
          <a:off x="6400800" y="2423160"/>
          <a:ext cx="5029200" cy="20574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514350">
                <a:tc>
                  <a:txBody>
                    <a:bodyPr/>
                    <a:lstStyle/>
                    <a:p>
                      <a:pPr algn="ctr">
                        <a:defRPr sz="1400" b="1">
                          <a:solidFill>
                            <a:srgbClr val="FFFFFF"/>
                          </a:solidFill>
                          <a:latin typeface="Aptos"/>
                        </a:defRPr>
                      </a:pPr>
                      <a:r>
                        <a:t>Loss Function</a:t>
                      </a:r>
                    </a:p>
                  </a:txBody>
                  <a:tcPr>
                    <a:solidFill>
                      <a:srgbClr val="8B0000"/>
                    </a:solidFill>
                  </a:tcPr>
                </a:tc>
                <a:tc>
                  <a:txBody>
                    <a:bodyPr/>
                    <a:lstStyle/>
                    <a:p>
                      <a:pPr algn="ctr">
                        <a:defRPr sz="1400" b="1">
                          <a:solidFill>
                            <a:srgbClr val="FFFFFF"/>
                          </a:solidFill>
                          <a:latin typeface="Aptos"/>
                        </a:defRPr>
                      </a:pPr>
                      <a:r>
                        <a:t>Use Case</a:t>
                      </a:r>
                    </a:p>
                  </a:txBody>
                  <a:tcPr>
                    <a:solidFill>
                      <a:srgbClr val="8B0000"/>
                    </a:solidFill>
                  </a:tcPr>
                </a:tc>
                <a:extLst>
                  <a:ext uri="{0D108BD9-81ED-4DB2-BD59-A6C34878D82A}">
                    <a16:rowId xmlns:a16="http://schemas.microsoft.com/office/drawing/2014/main" val="10000"/>
                  </a:ext>
                </a:extLst>
              </a:tr>
              <a:tr h="514350">
                <a:tc>
                  <a:txBody>
                    <a:bodyPr/>
                    <a:lstStyle/>
                    <a:p>
                      <a:pPr>
                        <a:defRPr sz="1400">
                          <a:solidFill>
                            <a:srgbClr val="1E1E1E"/>
                          </a:solidFill>
                          <a:latin typeface="Aptos"/>
                        </a:defRPr>
                      </a:pPr>
                      <a:r>
                        <a:t>Mean Squared Error</a:t>
                      </a:r>
                    </a:p>
                  </a:txBody>
                  <a:tcPr>
                    <a:solidFill>
                      <a:srgbClr val="FFF7F7"/>
                    </a:solidFill>
                  </a:tcPr>
                </a:tc>
                <a:tc>
                  <a:txBody>
                    <a:bodyPr/>
                    <a:lstStyle/>
                    <a:p>
                      <a:pPr>
                        <a:defRPr sz="1400">
                          <a:solidFill>
                            <a:srgbClr val="1E1E1E"/>
                          </a:solidFill>
                          <a:latin typeface="Aptos"/>
                        </a:defRPr>
                      </a:pPr>
                      <a:r>
                        <a:t>Regression problems</a:t>
                      </a:r>
                    </a:p>
                  </a:txBody>
                  <a:tcPr>
                    <a:solidFill>
                      <a:srgbClr val="FFF7F7"/>
                    </a:solidFill>
                  </a:tcPr>
                </a:tc>
                <a:extLst>
                  <a:ext uri="{0D108BD9-81ED-4DB2-BD59-A6C34878D82A}">
                    <a16:rowId xmlns:a16="http://schemas.microsoft.com/office/drawing/2014/main" val="10001"/>
                  </a:ext>
                </a:extLst>
              </a:tr>
              <a:tr h="514350">
                <a:tc>
                  <a:txBody>
                    <a:bodyPr/>
                    <a:lstStyle/>
                    <a:p>
                      <a:pPr>
                        <a:defRPr sz="1400">
                          <a:solidFill>
                            <a:srgbClr val="1E1E1E"/>
                          </a:solidFill>
                          <a:latin typeface="Aptos"/>
                        </a:defRPr>
                      </a:pPr>
                      <a:r>
                        <a:t>Binary Cross-Entropy</a:t>
                      </a:r>
                    </a:p>
                  </a:txBody>
                  <a:tcPr>
                    <a:solidFill>
                      <a:srgbClr val="FCE5E5"/>
                    </a:solidFill>
                  </a:tcPr>
                </a:tc>
                <a:tc>
                  <a:txBody>
                    <a:bodyPr/>
                    <a:lstStyle/>
                    <a:p>
                      <a:pPr>
                        <a:defRPr sz="1400">
                          <a:solidFill>
                            <a:srgbClr val="1E1E1E"/>
                          </a:solidFill>
                          <a:latin typeface="Aptos"/>
                        </a:defRPr>
                      </a:pPr>
                      <a:r>
                        <a:t>Two-class classification</a:t>
                      </a:r>
                    </a:p>
                  </a:txBody>
                  <a:tcPr>
                    <a:solidFill>
                      <a:srgbClr val="FCE5E5"/>
                    </a:solidFill>
                  </a:tcPr>
                </a:tc>
                <a:extLst>
                  <a:ext uri="{0D108BD9-81ED-4DB2-BD59-A6C34878D82A}">
                    <a16:rowId xmlns:a16="http://schemas.microsoft.com/office/drawing/2014/main" val="10002"/>
                  </a:ext>
                </a:extLst>
              </a:tr>
              <a:tr h="514350">
                <a:tc>
                  <a:txBody>
                    <a:bodyPr/>
                    <a:lstStyle/>
                    <a:p>
                      <a:pPr>
                        <a:defRPr sz="1400">
                          <a:solidFill>
                            <a:srgbClr val="1E1E1E"/>
                          </a:solidFill>
                          <a:latin typeface="Aptos"/>
                        </a:defRPr>
                      </a:pPr>
                      <a:r>
                        <a:t>Categorical Cross-Entropy</a:t>
                      </a:r>
                    </a:p>
                  </a:txBody>
                  <a:tcPr>
                    <a:solidFill>
                      <a:srgbClr val="FFF7F7"/>
                    </a:solidFill>
                  </a:tcPr>
                </a:tc>
                <a:tc>
                  <a:txBody>
                    <a:bodyPr/>
                    <a:lstStyle/>
                    <a:p>
                      <a:pPr>
                        <a:defRPr sz="1400">
                          <a:solidFill>
                            <a:srgbClr val="1E1E1E"/>
                          </a:solidFill>
                          <a:latin typeface="Aptos"/>
                        </a:defRPr>
                      </a:pPr>
                      <a:r>
                        <a:t>Multi-class classification</a:t>
                      </a:r>
                    </a:p>
                  </a:txBody>
                  <a:tcPr>
                    <a:solidFill>
                      <a:srgbClr val="FFF7F7"/>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9" name="TextBox 8"/>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Component 6: Optimization Algorithms</a:t>
            </a:r>
          </a:p>
        </p:txBody>
      </p:sp>
      <p:sp>
        <p:nvSpPr>
          <p:cNvPr id="3" name="Rounded Rectangle 2"/>
          <p:cNvSpPr/>
          <p:nvPr/>
        </p:nvSpPr>
        <p:spPr>
          <a:xfrm>
            <a:off x="731520" y="1143000"/>
            <a:ext cx="10744200" cy="96012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143000"/>
            <a:ext cx="10744200" cy="288036"/>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Definition</a:t>
            </a:r>
          </a:p>
        </p:txBody>
      </p:sp>
      <p:sp>
        <p:nvSpPr>
          <p:cNvPr id="5" name="TextBox 4"/>
          <p:cNvSpPr txBox="1"/>
          <p:nvPr/>
        </p:nvSpPr>
        <p:spPr>
          <a:xfrm>
            <a:off x="868680" y="1513332"/>
            <a:ext cx="10469880" cy="534924"/>
          </a:xfrm>
          <a:prstGeom prst="rect">
            <a:avLst/>
          </a:prstGeom>
          <a:noFill/>
        </p:spPr>
        <p:txBody>
          <a:bodyPr wrap="square" lIns="18288" tIns="18288" rIns="18288" bIns="18288">
            <a:spAutoFit/>
          </a:bodyPr>
          <a:lstStyle/>
          <a:p>
            <a:pPr>
              <a:defRPr sz="1800">
                <a:solidFill>
                  <a:srgbClr val="1E1E1E"/>
                </a:solidFill>
                <a:latin typeface="Aptos"/>
              </a:defRPr>
            </a:pPr>
            <a:r>
              <a:t>Optimization algorithms adjust the model's weights to reduce the loss function.</a:t>
            </a:r>
          </a:p>
        </p:txBody>
      </p:sp>
      <p:sp>
        <p:nvSpPr>
          <p:cNvPr id="6" name="TextBox 5"/>
          <p:cNvSpPr txBox="1"/>
          <p:nvPr/>
        </p:nvSpPr>
        <p:spPr>
          <a:xfrm>
            <a:off x="914400" y="2423160"/>
            <a:ext cx="5852160" cy="1920240"/>
          </a:xfrm>
          <a:prstGeom prst="rect">
            <a:avLst/>
          </a:prstGeom>
          <a:noFill/>
        </p:spPr>
        <p:txBody>
          <a:bodyPr wrap="square" lIns="45720" tIns="27432" rIns="45720" bIns="27432">
            <a:spAutoFit/>
          </a:bodyPr>
          <a:lstStyle/>
          <a:p>
            <a:pPr marL="285750" indent="-171450">
              <a:spcAft>
                <a:spcPts val="800"/>
              </a:spcAft>
              <a:defRPr sz="1900">
                <a:solidFill>
                  <a:srgbClr val="1E1E1E"/>
                </a:solidFill>
                <a:latin typeface="Aptos"/>
              </a:defRPr>
            </a:pPr>
            <a:r>
              <a:t>The optimizer checks how weights affect prediction error.</a:t>
            </a:r>
          </a:p>
          <a:p>
            <a:pPr marL="285750" indent="-171450">
              <a:spcAft>
                <a:spcPts val="800"/>
              </a:spcAft>
              <a:defRPr sz="1900">
                <a:solidFill>
                  <a:srgbClr val="1E1E1E"/>
                </a:solidFill>
                <a:latin typeface="Aptos"/>
              </a:defRPr>
            </a:pPr>
            <a:r>
              <a:t>It updates weights in the direction that lowers the loss.</a:t>
            </a:r>
          </a:p>
          <a:p>
            <a:pPr marL="285750" indent="-171450">
              <a:spcAft>
                <a:spcPts val="800"/>
              </a:spcAft>
              <a:defRPr sz="1900">
                <a:solidFill>
                  <a:srgbClr val="1E1E1E"/>
                </a:solidFill>
                <a:latin typeface="Aptos"/>
              </a:defRPr>
            </a:pPr>
            <a:r>
              <a:t>This process repeats many times during training.</a:t>
            </a:r>
          </a:p>
        </p:txBody>
      </p:sp>
      <p:sp>
        <p:nvSpPr>
          <p:cNvPr id="7" name="Rounded Rectangle 6"/>
          <p:cNvSpPr/>
          <p:nvPr/>
        </p:nvSpPr>
        <p:spPr>
          <a:xfrm>
            <a:off x="7178040" y="2514600"/>
            <a:ext cx="4206240" cy="132588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178040" y="2514600"/>
            <a:ext cx="4206240" cy="39319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Common Optimizers</a:t>
            </a:r>
          </a:p>
        </p:txBody>
      </p:sp>
      <p:sp>
        <p:nvSpPr>
          <p:cNvPr id="9" name="TextBox 8"/>
          <p:cNvSpPr txBox="1"/>
          <p:nvPr/>
        </p:nvSpPr>
        <p:spPr>
          <a:xfrm>
            <a:off x="7315200" y="2990088"/>
            <a:ext cx="3931920" cy="795528"/>
          </a:xfrm>
          <a:prstGeom prst="rect">
            <a:avLst/>
          </a:prstGeom>
          <a:noFill/>
        </p:spPr>
        <p:txBody>
          <a:bodyPr wrap="square" lIns="18288" tIns="18288" rIns="18288" bIns="18288">
            <a:spAutoFit/>
          </a:bodyPr>
          <a:lstStyle/>
          <a:p>
            <a:pPr>
              <a:defRPr sz="1800">
                <a:solidFill>
                  <a:srgbClr val="1E1E1E"/>
                </a:solidFill>
                <a:latin typeface="Aptos"/>
              </a:defRPr>
            </a:pPr>
            <a:r>
              <a:t>Gradient Descent, Stochastic Gradient Descent, RMSProp, and Adam.</a:t>
            </a:r>
          </a:p>
        </p:txBody>
      </p:sp>
      <p:sp>
        <p:nvSpPr>
          <p:cNvPr id="10" name="Rounded Rectangle 9"/>
          <p:cNvSpPr/>
          <p:nvPr/>
        </p:nvSpPr>
        <p:spPr>
          <a:xfrm>
            <a:off x="7178040" y="4160520"/>
            <a:ext cx="4206240" cy="105156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178040" y="4160520"/>
            <a:ext cx="4206240" cy="315468"/>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Key Idea</a:t>
            </a:r>
          </a:p>
        </p:txBody>
      </p:sp>
      <p:sp>
        <p:nvSpPr>
          <p:cNvPr id="12" name="TextBox 11"/>
          <p:cNvSpPr txBox="1"/>
          <p:nvPr/>
        </p:nvSpPr>
        <p:spPr>
          <a:xfrm>
            <a:off x="7315200" y="4558283"/>
            <a:ext cx="3931920" cy="598931"/>
          </a:xfrm>
          <a:prstGeom prst="rect">
            <a:avLst/>
          </a:prstGeom>
          <a:noFill/>
        </p:spPr>
        <p:txBody>
          <a:bodyPr wrap="square" lIns="18288" tIns="18288" rIns="18288" bIns="18288">
            <a:spAutoFit/>
          </a:bodyPr>
          <a:lstStyle/>
          <a:p>
            <a:pPr>
              <a:defRPr sz="1600">
                <a:solidFill>
                  <a:srgbClr val="1E1E1E"/>
                </a:solidFill>
                <a:latin typeface="Aptos"/>
              </a:defRPr>
            </a:pPr>
            <a:r>
              <a:t>Optimization is how the neural network improves after making mistakes.</a:t>
            </a:r>
          </a:p>
        </p:txBody>
      </p:sp>
      <p:sp>
        <p:nvSpPr>
          <p:cNvPr id="13" name="TextBox 12"/>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14" name="TextBox 13"/>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How Training Works</a:t>
            </a:r>
          </a:p>
        </p:txBody>
      </p:sp>
      <p:cxnSp>
        <p:nvCxnSpPr>
          <p:cNvPr id="9" name="Connector 8"/>
          <p:cNvCxnSpPr/>
          <p:nvPr/>
        </p:nvCxnSpPr>
        <p:spPr>
          <a:xfrm>
            <a:off x="0" y="0"/>
            <a:ext cx="0" cy="0"/>
          </a:xfrm>
          <a:prstGeom prst="line">
            <a:avLst/>
          </a:prstGeom>
          <a:ln w="25400">
            <a:solidFill>
              <a:srgbClr val="8B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0"/>
            <a:ext cx="0" cy="0"/>
          </a:xfrm>
          <a:prstGeom prst="line">
            <a:avLst/>
          </a:prstGeom>
          <a:ln w="25400">
            <a:solidFill>
              <a:srgbClr val="8B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25400">
            <a:solidFill>
              <a:srgbClr val="8B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25400">
            <a:solidFill>
              <a:srgbClr val="8B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0" y="0"/>
            <a:ext cx="0" cy="0"/>
          </a:xfrm>
          <a:prstGeom prst="line">
            <a:avLst/>
          </a:prstGeom>
          <a:ln w="25400">
            <a:solidFill>
              <a:srgbClr val="8B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0" y="2715768"/>
            <a:ext cx="0" cy="0"/>
          </a:xfrm>
          <a:prstGeom prst="bentConnector3">
            <a:avLst/>
          </a:prstGeom>
          <a:ln w="25400">
            <a:solidFill>
              <a:srgbClr val="8B000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006840" y="2057400"/>
            <a:ext cx="2468880" cy="196596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006840" y="2057400"/>
            <a:ext cx="2468880" cy="39319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Training Cycle</a:t>
            </a:r>
          </a:p>
        </p:txBody>
      </p:sp>
      <p:sp>
        <p:nvSpPr>
          <p:cNvPr id="17" name="TextBox 16"/>
          <p:cNvSpPr txBox="1"/>
          <p:nvPr/>
        </p:nvSpPr>
        <p:spPr>
          <a:xfrm>
            <a:off x="9144000" y="2532888"/>
            <a:ext cx="2194560" cy="1435608"/>
          </a:xfrm>
          <a:prstGeom prst="rect">
            <a:avLst/>
          </a:prstGeom>
          <a:noFill/>
        </p:spPr>
        <p:txBody>
          <a:bodyPr wrap="square" lIns="18288" tIns="18288" rIns="18288" bIns="18288">
            <a:spAutoFit/>
          </a:bodyPr>
          <a:lstStyle/>
          <a:p>
            <a:pPr>
              <a:defRPr sz="1500">
                <a:solidFill>
                  <a:srgbClr val="1E1E1E"/>
                </a:solidFill>
                <a:latin typeface="Aptos"/>
              </a:defRPr>
            </a:pPr>
            <a:r>
              <a:t>Training is a repeated cycle: predict, measure error, update weights, and try again.</a:t>
            </a:r>
          </a:p>
        </p:txBody>
      </p:sp>
      <p:sp>
        <p:nvSpPr>
          <p:cNvPr id="18" name="TextBox 17"/>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19" name="TextBox 18"/>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11</a:t>
            </a:r>
          </a:p>
        </p:txBody>
      </p:sp>
      <p:pic>
        <p:nvPicPr>
          <p:cNvPr id="21" name="Picture 20">
            <a:extLst>
              <a:ext uri="{FF2B5EF4-FFF2-40B4-BE49-F238E27FC236}">
                <a16:creationId xmlns:a16="http://schemas.microsoft.com/office/drawing/2014/main" id="{7DB8F23C-EEC3-F8BA-AC7E-2A6CD1F54B02}"/>
              </a:ext>
            </a:extLst>
          </p:cNvPr>
          <p:cNvPicPr>
            <a:picLocks noChangeAspect="1"/>
          </p:cNvPicPr>
          <p:nvPr/>
        </p:nvPicPr>
        <p:blipFill>
          <a:blip r:embed="rId2"/>
          <a:stretch>
            <a:fillRect/>
          </a:stretch>
        </p:blipFill>
        <p:spPr>
          <a:xfrm>
            <a:off x="853440" y="1962796"/>
            <a:ext cx="7859737" cy="26971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Neural Network Playground: What I Explored</a:t>
            </a:r>
          </a:p>
        </p:txBody>
      </p:sp>
      <p:sp>
        <p:nvSpPr>
          <p:cNvPr id="3" name="TextBox 2"/>
          <p:cNvSpPr txBox="1"/>
          <p:nvPr/>
        </p:nvSpPr>
        <p:spPr>
          <a:xfrm>
            <a:off x="822960" y="1325880"/>
            <a:ext cx="10515600" cy="3108960"/>
          </a:xfrm>
          <a:prstGeom prst="rect">
            <a:avLst/>
          </a:prstGeom>
          <a:noFill/>
        </p:spPr>
        <p:txBody>
          <a:bodyPr wrap="square" lIns="45720" tIns="27432" rIns="45720" bIns="27432">
            <a:spAutoFit/>
          </a:bodyPr>
          <a:lstStyle/>
          <a:p>
            <a:pPr marL="285750" indent="-171450">
              <a:spcAft>
                <a:spcPts val="800"/>
              </a:spcAft>
              <a:defRPr sz="1800">
                <a:solidFill>
                  <a:srgbClr val="1E1E1E"/>
                </a:solidFill>
                <a:latin typeface="Aptos"/>
              </a:defRPr>
            </a:pPr>
            <a:r>
              <a:t>I practiced changing datasets, noise levels, features, hidden layers, and neurons.</a:t>
            </a:r>
          </a:p>
          <a:p>
            <a:pPr marL="285750" indent="-171450">
              <a:spcAft>
                <a:spcPts val="800"/>
              </a:spcAft>
              <a:defRPr sz="1800">
                <a:solidFill>
                  <a:srgbClr val="1E1E1E"/>
                </a:solidFill>
                <a:latin typeface="Aptos"/>
              </a:defRPr>
            </a:pPr>
            <a:r>
              <a:t>More neurons and layers increased model flexibility.</a:t>
            </a:r>
          </a:p>
          <a:p>
            <a:pPr marL="285750" indent="-171450">
              <a:spcAft>
                <a:spcPts val="800"/>
              </a:spcAft>
              <a:defRPr sz="1800">
                <a:solidFill>
                  <a:srgbClr val="1E1E1E"/>
                </a:solidFill>
                <a:latin typeface="Aptos"/>
              </a:defRPr>
            </a:pPr>
            <a:r>
              <a:t>Higher noise made learning harder.</a:t>
            </a:r>
          </a:p>
          <a:p>
            <a:pPr marL="285750" indent="-171450">
              <a:spcAft>
                <a:spcPts val="800"/>
              </a:spcAft>
              <a:defRPr sz="1800">
                <a:solidFill>
                  <a:srgbClr val="1E1E1E"/>
                </a:solidFill>
                <a:latin typeface="Aptos"/>
              </a:defRPr>
            </a:pPr>
            <a:r>
              <a:t>Simple models trained faster but sometimes underfit.</a:t>
            </a:r>
          </a:p>
          <a:p>
            <a:pPr marL="285750" indent="-171450">
              <a:spcAft>
                <a:spcPts val="800"/>
              </a:spcAft>
              <a:defRPr sz="1800">
                <a:solidFill>
                  <a:srgbClr val="1E1E1E"/>
                </a:solidFill>
                <a:latin typeface="Aptos"/>
              </a:defRPr>
            </a:pPr>
            <a:r>
              <a:t>Larger models handled complex patterns better but could become harder to interpret.</a:t>
            </a:r>
          </a:p>
        </p:txBody>
      </p:sp>
      <p:sp>
        <p:nvSpPr>
          <p:cNvPr id="4" name="Rounded Rectangle 3"/>
          <p:cNvSpPr/>
          <p:nvPr/>
        </p:nvSpPr>
        <p:spPr>
          <a:xfrm>
            <a:off x="2011680" y="4892040"/>
            <a:ext cx="8138160" cy="82296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011680" y="4892040"/>
            <a:ext cx="8138160" cy="246888"/>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Key Insight</a:t>
            </a:r>
          </a:p>
        </p:txBody>
      </p:sp>
      <p:sp>
        <p:nvSpPr>
          <p:cNvPr id="6" name="TextBox 5"/>
          <p:cNvSpPr txBox="1"/>
          <p:nvPr/>
        </p:nvSpPr>
        <p:spPr>
          <a:xfrm>
            <a:off x="2148840" y="5221223"/>
            <a:ext cx="7863840" cy="438912"/>
          </a:xfrm>
          <a:prstGeom prst="rect">
            <a:avLst/>
          </a:prstGeom>
          <a:noFill/>
        </p:spPr>
        <p:txBody>
          <a:bodyPr wrap="square" lIns="18288" tIns="18288" rIns="18288" bIns="18288">
            <a:spAutoFit/>
          </a:bodyPr>
          <a:lstStyle/>
          <a:p>
            <a:pPr>
              <a:defRPr sz="1800">
                <a:solidFill>
                  <a:srgbClr val="1E1E1E"/>
                </a:solidFill>
                <a:latin typeface="Aptos"/>
              </a:defRPr>
            </a:pPr>
            <a:r>
              <a:t>Model structure affects learning speed, decision boundaries, and performance.</a:t>
            </a:r>
          </a:p>
        </p:txBody>
      </p:sp>
      <p:sp>
        <p:nvSpPr>
          <p:cNvPr id="7" name="TextBox 6"/>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8" name="TextBox 7"/>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Component Summary</a:t>
            </a:r>
          </a:p>
        </p:txBody>
      </p:sp>
      <p:graphicFrame>
        <p:nvGraphicFramePr>
          <p:cNvPr id="3" name="Table 2"/>
          <p:cNvGraphicFramePr>
            <a:graphicFrameLocks noGrp="1"/>
          </p:cNvGraphicFramePr>
          <p:nvPr/>
        </p:nvGraphicFramePr>
        <p:xfrm>
          <a:off x="1005840" y="1371600"/>
          <a:ext cx="10149840" cy="42976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613954">
                <a:tc>
                  <a:txBody>
                    <a:bodyPr/>
                    <a:lstStyle/>
                    <a:p>
                      <a:pPr algn="ctr">
                        <a:defRPr sz="1500" b="1">
                          <a:solidFill>
                            <a:srgbClr val="FFFFFF"/>
                          </a:solidFill>
                          <a:latin typeface="Aptos"/>
                        </a:defRPr>
                      </a:pPr>
                      <a:r>
                        <a:t>Component</a:t>
                      </a:r>
                    </a:p>
                  </a:txBody>
                  <a:tcPr>
                    <a:solidFill>
                      <a:srgbClr val="8B0000"/>
                    </a:solidFill>
                  </a:tcPr>
                </a:tc>
                <a:tc>
                  <a:txBody>
                    <a:bodyPr/>
                    <a:lstStyle/>
                    <a:p>
                      <a:pPr algn="ctr">
                        <a:defRPr sz="1500" b="1">
                          <a:solidFill>
                            <a:srgbClr val="FFFFFF"/>
                          </a:solidFill>
                          <a:latin typeface="Aptos"/>
                        </a:defRPr>
                      </a:pPr>
                      <a:r>
                        <a:t>Function</a:t>
                      </a:r>
                    </a:p>
                  </a:txBody>
                  <a:tcPr>
                    <a:solidFill>
                      <a:srgbClr val="8B0000"/>
                    </a:solidFill>
                  </a:tcPr>
                </a:tc>
                <a:extLst>
                  <a:ext uri="{0D108BD9-81ED-4DB2-BD59-A6C34878D82A}">
                    <a16:rowId xmlns:a16="http://schemas.microsoft.com/office/drawing/2014/main" val="10000"/>
                  </a:ext>
                </a:extLst>
              </a:tr>
              <a:tr h="613954">
                <a:tc>
                  <a:txBody>
                    <a:bodyPr/>
                    <a:lstStyle/>
                    <a:p>
                      <a:pPr>
                        <a:defRPr sz="1500">
                          <a:solidFill>
                            <a:srgbClr val="1E1E1E"/>
                          </a:solidFill>
                          <a:latin typeface="Aptos"/>
                        </a:defRPr>
                      </a:pPr>
                      <a:r>
                        <a:t>Layers</a:t>
                      </a:r>
                    </a:p>
                  </a:txBody>
                  <a:tcPr>
                    <a:solidFill>
                      <a:srgbClr val="FFF7F7"/>
                    </a:solidFill>
                  </a:tcPr>
                </a:tc>
                <a:tc>
                  <a:txBody>
                    <a:bodyPr/>
                    <a:lstStyle/>
                    <a:p>
                      <a:pPr>
                        <a:defRPr sz="1500">
                          <a:solidFill>
                            <a:srgbClr val="1E1E1E"/>
                          </a:solidFill>
                          <a:latin typeface="Aptos"/>
                        </a:defRPr>
                      </a:pPr>
                      <a:r>
                        <a:t>Organize the flow of information.</a:t>
                      </a:r>
                    </a:p>
                  </a:txBody>
                  <a:tcPr>
                    <a:solidFill>
                      <a:srgbClr val="FFF7F7"/>
                    </a:solidFill>
                  </a:tcPr>
                </a:tc>
                <a:extLst>
                  <a:ext uri="{0D108BD9-81ED-4DB2-BD59-A6C34878D82A}">
                    <a16:rowId xmlns:a16="http://schemas.microsoft.com/office/drawing/2014/main" val="10001"/>
                  </a:ext>
                </a:extLst>
              </a:tr>
              <a:tr h="613954">
                <a:tc>
                  <a:txBody>
                    <a:bodyPr/>
                    <a:lstStyle/>
                    <a:p>
                      <a:pPr>
                        <a:defRPr sz="1500">
                          <a:solidFill>
                            <a:srgbClr val="1E1E1E"/>
                          </a:solidFill>
                          <a:latin typeface="Aptos"/>
                        </a:defRPr>
                      </a:pPr>
                      <a:r>
                        <a:t>Neurons</a:t>
                      </a:r>
                    </a:p>
                  </a:txBody>
                  <a:tcPr>
                    <a:solidFill>
                      <a:srgbClr val="FCE5E5"/>
                    </a:solidFill>
                  </a:tcPr>
                </a:tc>
                <a:tc>
                  <a:txBody>
                    <a:bodyPr/>
                    <a:lstStyle/>
                    <a:p>
                      <a:pPr>
                        <a:defRPr sz="1500">
                          <a:solidFill>
                            <a:srgbClr val="1E1E1E"/>
                          </a:solidFill>
                          <a:latin typeface="Aptos"/>
                        </a:defRPr>
                      </a:pPr>
                      <a:r>
                        <a:t>Process inputs and produce outputs.</a:t>
                      </a:r>
                    </a:p>
                  </a:txBody>
                  <a:tcPr>
                    <a:solidFill>
                      <a:srgbClr val="FCE5E5"/>
                    </a:solidFill>
                  </a:tcPr>
                </a:tc>
                <a:extLst>
                  <a:ext uri="{0D108BD9-81ED-4DB2-BD59-A6C34878D82A}">
                    <a16:rowId xmlns:a16="http://schemas.microsoft.com/office/drawing/2014/main" val="10002"/>
                  </a:ext>
                </a:extLst>
              </a:tr>
              <a:tr h="613954">
                <a:tc>
                  <a:txBody>
                    <a:bodyPr/>
                    <a:lstStyle/>
                    <a:p>
                      <a:pPr>
                        <a:defRPr sz="1500">
                          <a:solidFill>
                            <a:srgbClr val="1E1E1E"/>
                          </a:solidFill>
                          <a:latin typeface="Aptos"/>
                        </a:defRPr>
                      </a:pPr>
                      <a:r>
                        <a:t>Weights</a:t>
                      </a:r>
                    </a:p>
                  </a:txBody>
                  <a:tcPr>
                    <a:solidFill>
                      <a:srgbClr val="FFF7F7"/>
                    </a:solidFill>
                  </a:tcPr>
                </a:tc>
                <a:tc>
                  <a:txBody>
                    <a:bodyPr/>
                    <a:lstStyle/>
                    <a:p>
                      <a:pPr>
                        <a:defRPr sz="1500">
                          <a:solidFill>
                            <a:srgbClr val="1E1E1E"/>
                          </a:solidFill>
                          <a:latin typeface="Aptos"/>
                        </a:defRPr>
                      </a:pPr>
                      <a:r>
                        <a:t>Control connection strength.</a:t>
                      </a:r>
                    </a:p>
                  </a:txBody>
                  <a:tcPr>
                    <a:solidFill>
                      <a:srgbClr val="FFF7F7"/>
                    </a:solidFill>
                  </a:tcPr>
                </a:tc>
                <a:extLst>
                  <a:ext uri="{0D108BD9-81ED-4DB2-BD59-A6C34878D82A}">
                    <a16:rowId xmlns:a16="http://schemas.microsoft.com/office/drawing/2014/main" val="10003"/>
                  </a:ext>
                </a:extLst>
              </a:tr>
              <a:tr h="613954">
                <a:tc>
                  <a:txBody>
                    <a:bodyPr/>
                    <a:lstStyle/>
                    <a:p>
                      <a:pPr>
                        <a:defRPr sz="1500">
                          <a:solidFill>
                            <a:srgbClr val="1E1E1E"/>
                          </a:solidFill>
                          <a:latin typeface="Aptos"/>
                        </a:defRPr>
                      </a:pPr>
                      <a:r>
                        <a:t>Activation Functions</a:t>
                      </a:r>
                    </a:p>
                  </a:txBody>
                  <a:tcPr>
                    <a:solidFill>
                      <a:srgbClr val="FCE5E5"/>
                    </a:solidFill>
                  </a:tcPr>
                </a:tc>
                <a:tc>
                  <a:txBody>
                    <a:bodyPr/>
                    <a:lstStyle/>
                    <a:p>
                      <a:pPr>
                        <a:defRPr sz="1500">
                          <a:solidFill>
                            <a:srgbClr val="1E1E1E"/>
                          </a:solidFill>
                          <a:latin typeface="Aptos"/>
                        </a:defRPr>
                      </a:pPr>
                      <a:r>
                        <a:t>Add nonlinearity and help learn complex patterns.</a:t>
                      </a:r>
                    </a:p>
                  </a:txBody>
                  <a:tcPr>
                    <a:solidFill>
                      <a:srgbClr val="FCE5E5"/>
                    </a:solidFill>
                  </a:tcPr>
                </a:tc>
                <a:extLst>
                  <a:ext uri="{0D108BD9-81ED-4DB2-BD59-A6C34878D82A}">
                    <a16:rowId xmlns:a16="http://schemas.microsoft.com/office/drawing/2014/main" val="10004"/>
                  </a:ext>
                </a:extLst>
              </a:tr>
              <a:tr h="613954">
                <a:tc>
                  <a:txBody>
                    <a:bodyPr/>
                    <a:lstStyle/>
                    <a:p>
                      <a:pPr>
                        <a:defRPr sz="1500">
                          <a:solidFill>
                            <a:srgbClr val="1E1E1E"/>
                          </a:solidFill>
                          <a:latin typeface="Aptos"/>
                        </a:defRPr>
                      </a:pPr>
                      <a:r>
                        <a:t>Loss Functions</a:t>
                      </a:r>
                    </a:p>
                  </a:txBody>
                  <a:tcPr>
                    <a:solidFill>
                      <a:srgbClr val="FFF7F7"/>
                    </a:solidFill>
                  </a:tcPr>
                </a:tc>
                <a:tc>
                  <a:txBody>
                    <a:bodyPr/>
                    <a:lstStyle/>
                    <a:p>
                      <a:pPr>
                        <a:defRPr sz="1500">
                          <a:solidFill>
                            <a:srgbClr val="1E1E1E"/>
                          </a:solidFill>
                          <a:latin typeface="Aptos"/>
                        </a:defRPr>
                      </a:pPr>
                      <a:r>
                        <a:t>Measure prediction error.</a:t>
                      </a:r>
                    </a:p>
                  </a:txBody>
                  <a:tcPr>
                    <a:solidFill>
                      <a:srgbClr val="FFF7F7"/>
                    </a:solidFill>
                  </a:tcPr>
                </a:tc>
                <a:extLst>
                  <a:ext uri="{0D108BD9-81ED-4DB2-BD59-A6C34878D82A}">
                    <a16:rowId xmlns:a16="http://schemas.microsoft.com/office/drawing/2014/main" val="10005"/>
                  </a:ext>
                </a:extLst>
              </a:tr>
              <a:tr h="613956">
                <a:tc>
                  <a:txBody>
                    <a:bodyPr/>
                    <a:lstStyle/>
                    <a:p>
                      <a:pPr>
                        <a:defRPr sz="1500">
                          <a:solidFill>
                            <a:srgbClr val="1E1E1E"/>
                          </a:solidFill>
                          <a:latin typeface="Aptos"/>
                        </a:defRPr>
                      </a:pPr>
                      <a:r>
                        <a:t>Optimization Algorithms</a:t>
                      </a:r>
                    </a:p>
                  </a:txBody>
                  <a:tcPr>
                    <a:solidFill>
                      <a:srgbClr val="FCE5E5"/>
                    </a:solidFill>
                  </a:tcPr>
                </a:tc>
                <a:tc>
                  <a:txBody>
                    <a:bodyPr/>
                    <a:lstStyle/>
                    <a:p>
                      <a:pPr>
                        <a:defRPr sz="1500">
                          <a:solidFill>
                            <a:srgbClr val="1E1E1E"/>
                          </a:solidFill>
                          <a:latin typeface="Aptos"/>
                        </a:defRPr>
                      </a:pPr>
                      <a:r>
                        <a:t>Update weights to reduce loss.</a:t>
                      </a:r>
                    </a:p>
                  </a:txBody>
                  <a:tcPr>
                    <a:solidFill>
                      <a:srgbClr val="FCE5E5"/>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5" name="TextBox 4"/>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Why Visualizing Neural Networks Matters</a:t>
            </a:r>
          </a:p>
        </p:txBody>
      </p:sp>
      <p:sp>
        <p:nvSpPr>
          <p:cNvPr id="3" name="TextBox 2"/>
          <p:cNvSpPr txBox="1"/>
          <p:nvPr/>
        </p:nvSpPr>
        <p:spPr>
          <a:xfrm>
            <a:off x="822960" y="1325880"/>
            <a:ext cx="10332720" cy="2834640"/>
          </a:xfrm>
          <a:prstGeom prst="rect">
            <a:avLst/>
          </a:prstGeom>
          <a:noFill/>
        </p:spPr>
        <p:txBody>
          <a:bodyPr wrap="square" lIns="45720" tIns="27432" rIns="45720" bIns="27432">
            <a:spAutoFit/>
          </a:bodyPr>
          <a:lstStyle/>
          <a:p>
            <a:pPr marL="285750" indent="-171450">
              <a:spcAft>
                <a:spcPts val="800"/>
              </a:spcAft>
              <a:defRPr sz="1900">
                <a:solidFill>
                  <a:srgbClr val="1E1E1E"/>
                </a:solidFill>
                <a:latin typeface="Aptos"/>
              </a:defRPr>
            </a:pPr>
            <a:r>
              <a:t>It makes complex AI concepts easier to understand.</a:t>
            </a:r>
          </a:p>
          <a:p>
            <a:pPr marL="285750" indent="-171450">
              <a:spcAft>
                <a:spcPts val="800"/>
              </a:spcAft>
              <a:defRPr sz="1900">
                <a:solidFill>
                  <a:srgbClr val="1E1E1E"/>
                </a:solidFill>
                <a:latin typeface="Aptos"/>
              </a:defRPr>
            </a:pPr>
            <a:r>
              <a:t>It shows how data moves through a model.</a:t>
            </a:r>
          </a:p>
          <a:p>
            <a:pPr marL="285750" indent="-171450">
              <a:spcAft>
                <a:spcPts val="800"/>
              </a:spcAft>
              <a:defRPr sz="1900">
                <a:solidFill>
                  <a:srgbClr val="1E1E1E"/>
                </a:solidFill>
                <a:latin typeface="Aptos"/>
              </a:defRPr>
            </a:pPr>
            <a:r>
              <a:t>It explains how components work together.</a:t>
            </a:r>
          </a:p>
          <a:p>
            <a:pPr marL="285750" indent="-171450">
              <a:spcAft>
                <a:spcPts val="800"/>
              </a:spcAft>
              <a:defRPr sz="1900">
                <a:solidFill>
                  <a:srgbClr val="1E1E1E"/>
                </a:solidFill>
                <a:latin typeface="Aptos"/>
              </a:defRPr>
            </a:pPr>
            <a:r>
              <a:t>It helps identify why training improves or fails.</a:t>
            </a:r>
          </a:p>
          <a:p>
            <a:pPr marL="285750" indent="-171450">
              <a:spcAft>
                <a:spcPts val="800"/>
              </a:spcAft>
              <a:defRPr sz="1900">
                <a:solidFill>
                  <a:srgbClr val="1E1E1E"/>
                </a:solidFill>
                <a:latin typeface="Aptos"/>
              </a:defRPr>
            </a:pPr>
            <a:r>
              <a:t>It supports clear communication with non-technical audiences.</a:t>
            </a:r>
          </a:p>
        </p:txBody>
      </p:sp>
      <p:sp>
        <p:nvSpPr>
          <p:cNvPr id="4" name="Rounded Rectangle 3"/>
          <p:cNvSpPr/>
          <p:nvPr/>
        </p:nvSpPr>
        <p:spPr>
          <a:xfrm>
            <a:off x="1554480" y="4754880"/>
            <a:ext cx="9052560" cy="91440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554480" y="4754880"/>
            <a:ext cx="9052560" cy="27432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Main Takeaway</a:t>
            </a:r>
          </a:p>
        </p:txBody>
      </p:sp>
      <p:sp>
        <p:nvSpPr>
          <p:cNvPr id="6" name="TextBox 5"/>
          <p:cNvSpPr txBox="1"/>
          <p:nvPr/>
        </p:nvSpPr>
        <p:spPr>
          <a:xfrm>
            <a:off x="1691639" y="5111496"/>
            <a:ext cx="8778240" cy="502919"/>
          </a:xfrm>
          <a:prstGeom prst="rect">
            <a:avLst/>
          </a:prstGeom>
          <a:noFill/>
        </p:spPr>
        <p:txBody>
          <a:bodyPr wrap="square" lIns="18288" tIns="18288" rIns="18288" bIns="18288">
            <a:spAutoFit/>
          </a:bodyPr>
          <a:lstStyle/>
          <a:p>
            <a:pPr>
              <a:defRPr sz="1800">
                <a:solidFill>
                  <a:srgbClr val="1E1E1E"/>
                </a:solidFill>
                <a:latin typeface="Aptos"/>
              </a:defRPr>
            </a:pPr>
            <a:r>
              <a:t>A neural network learns by passing data forward, measuring error, and adjusting weights until predictions improve.</a:t>
            </a:r>
          </a:p>
        </p:txBody>
      </p:sp>
      <p:sp>
        <p:nvSpPr>
          <p:cNvPr id="7" name="TextBox 6"/>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8" name="TextBox 7"/>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20040" y="228600"/>
            <a:ext cx="11567160" cy="685800"/>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ptos"/>
              </a:defRPr>
            </a:pPr>
            <a:r>
              <a:t>Portfolio Artifact Value Proposition</a:t>
            </a:r>
          </a:p>
        </p:txBody>
      </p:sp>
      <p:sp>
        <p:nvSpPr>
          <p:cNvPr id="3" name="Rounded Rectangle 2"/>
          <p:cNvSpPr/>
          <p:nvPr/>
        </p:nvSpPr>
        <p:spPr>
          <a:xfrm>
            <a:off x="777240" y="1280160"/>
            <a:ext cx="10652760" cy="1828800"/>
          </a:xfrm>
          <a:prstGeom prst="roundRect">
            <a:avLst/>
          </a:prstGeom>
          <a:solidFill>
            <a:srgbClr val="FCE5E5"/>
          </a:solidFill>
          <a:ln w="15240">
            <a:solidFill>
              <a:srgbClr val="F4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280160"/>
            <a:ext cx="10652760" cy="393192"/>
          </a:xfrm>
          <a:prstGeom prst="roundRect">
            <a:avLst/>
          </a:prstGeom>
          <a:solidFill>
            <a:srgbClr val="8B0000"/>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Artifact-Specific Value Proposition</a:t>
            </a:r>
          </a:p>
        </p:txBody>
      </p:sp>
      <p:sp>
        <p:nvSpPr>
          <p:cNvPr id="5" name="TextBox 4"/>
          <p:cNvSpPr txBox="1"/>
          <p:nvPr/>
        </p:nvSpPr>
        <p:spPr>
          <a:xfrm>
            <a:off x="914400" y="1755648"/>
            <a:ext cx="10378440" cy="1298448"/>
          </a:xfrm>
          <a:prstGeom prst="rect">
            <a:avLst/>
          </a:prstGeom>
          <a:noFill/>
        </p:spPr>
        <p:txBody>
          <a:bodyPr wrap="square" lIns="18288" tIns="18288" rIns="18288" bIns="18288">
            <a:spAutoFit/>
          </a:bodyPr>
          <a:lstStyle/>
          <a:p>
            <a:pPr>
              <a:defRPr sz="1600">
                <a:solidFill>
                  <a:srgbClr val="1E1E1E"/>
                </a:solidFill>
                <a:latin typeface="Aptos"/>
              </a:defRPr>
            </a:pPr>
            <a:r>
              <a:t>This artifact helps students and early AI learners understand neural network components through clear visuals and concise explanations. It demonstrates my ability to simplify complex AI concepts, connect theory to practice, and communicate technical ideas professionally.</a:t>
            </a:r>
          </a:p>
        </p:txBody>
      </p:sp>
      <p:sp>
        <p:nvSpPr>
          <p:cNvPr id="6" name="TextBox 5"/>
          <p:cNvSpPr txBox="1"/>
          <p:nvPr/>
        </p:nvSpPr>
        <p:spPr>
          <a:xfrm>
            <a:off x="1051560" y="3566160"/>
            <a:ext cx="9966960" cy="1554480"/>
          </a:xfrm>
          <a:prstGeom prst="rect">
            <a:avLst/>
          </a:prstGeom>
          <a:noFill/>
        </p:spPr>
        <p:txBody>
          <a:bodyPr wrap="square" lIns="45720" tIns="27432" rIns="45720" bIns="27432">
            <a:spAutoFit/>
          </a:bodyPr>
          <a:lstStyle/>
          <a:p>
            <a:pPr marL="285750" indent="-171450">
              <a:spcAft>
                <a:spcPts val="800"/>
              </a:spcAft>
              <a:defRPr sz="1800">
                <a:solidFill>
                  <a:srgbClr val="1E1E1E"/>
                </a:solidFill>
                <a:latin typeface="Aptos"/>
              </a:defRPr>
            </a:pPr>
            <a:r>
              <a:t>Audience: AIML students, instructors, and beginner AI learners.</a:t>
            </a:r>
          </a:p>
          <a:p>
            <a:pPr marL="285750" indent="-171450">
              <a:spcAft>
                <a:spcPts val="800"/>
              </a:spcAft>
              <a:defRPr sz="1800">
                <a:solidFill>
                  <a:srgbClr val="1E1E1E"/>
                </a:solidFill>
                <a:latin typeface="Aptos"/>
              </a:defRPr>
            </a:pPr>
            <a:r>
              <a:t>Value: Clear explanation of neural network structure and training.</a:t>
            </a:r>
          </a:p>
          <a:p>
            <a:pPr marL="285750" indent="-171450">
              <a:spcAft>
                <a:spcPts val="800"/>
              </a:spcAft>
              <a:defRPr sz="1800">
                <a:solidFill>
                  <a:srgbClr val="1E1E1E"/>
                </a:solidFill>
                <a:latin typeface="Aptos"/>
              </a:defRPr>
            </a:pPr>
            <a:r>
              <a:t>Skill demonstrated: Technical communication and visual learning design.</a:t>
            </a:r>
          </a:p>
        </p:txBody>
      </p:sp>
      <p:sp>
        <p:nvSpPr>
          <p:cNvPr id="7" name="TextBox 6"/>
          <p:cNvSpPr txBox="1"/>
          <p:nvPr/>
        </p:nvSpPr>
        <p:spPr>
          <a:xfrm>
            <a:off x="411480" y="6473952"/>
            <a:ext cx="7498079" cy="228600"/>
          </a:xfrm>
          <a:prstGeom prst="rect">
            <a:avLst/>
          </a:prstGeom>
          <a:noFill/>
        </p:spPr>
        <p:txBody>
          <a:bodyPr wrap="none">
            <a:spAutoFit/>
          </a:bodyPr>
          <a:lstStyle/>
          <a:p>
            <a:pPr>
              <a:defRPr sz="850">
                <a:solidFill>
                  <a:srgbClr val="646464"/>
                </a:solidFill>
                <a:latin typeface="Aptos"/>
              </a:defRPr>
            </a:pPr>
            <a:r>
              <a:t>AIML-501 | Visualizing Neural Networks | Benita Chinemerem</a:t>
            </a:r>
          </a:p>
        </p:txBody>
      </p:sp>
      <p:sp>
        <p:nvSpPr>
          <p:cNvPr id="8" name="TextBox 7"/>
          <p:cNvSpPr txBox="1"/>
          <p:nvPr/>
        </p:nvSpPr>
        <p:spPr>
          <a:xfrm>
            <a:off x="11201400" y="6473952"/>
            <a:ext cx="548640" cy="228600"/>
          </a:xfrm>
          <a:prstGeom prst="rect">
            <a:avLst/>
          </a:prstGeom>
          <a:noFill/>
        </p:spPr>
        <p:txBody>
          <a:bodyPr wrap="none">
            <a:spAutoFit/>
          </a:bodyPr>
          <a:lstStyle/>
          <a:p>
            <a:pPr algn="r">
              <a:defRPr sz="850">
                <a:solidFill>
                  <a:srgbClr val="646464"/>
                </a:solidFill>
                <a:latin typeface="Aptos"/>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1031</Words>
  <Application>Microsoft Office PowerPoint</Application>
  <PresentationFormat>Widescreen</PresentationFormat>
  <Paragraphs>169</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Onyero Walter Ofuzim</cp:lastModifiedBy>
  <cp:revision>2</cp:revision>
  <dcterms:created xsi:type="dcterms:W3CDTF">2013-01-27T09:14:16Z</dcterms:created>
  <dcterms:modified xsi:type="dcterms:W3CDTF">2026-05-20T23:54:31Z</dcterms:modified>
  <cp:category/>
</cp:coreProperties>
</file>