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Use Case: AEGISLY Clinical Knowledge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77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30014"/>
                </a:solidFill>
              </a:defRPr>
            </a:pPr>
            <a:r>
              <a:t>Production-ready RAG healthcare platform for safer food purchasing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554480" cy="548640"/>
          </a:xfrm>
          <a:prstGeom prst="round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Patient / Care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828800"/>
            <a:ext cx="1554480" cy="548640"/>
          </a:xfrm>
          <a:prstGeom prst="round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Retail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1554480" cy="548640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Aegisly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28800"/>
            <a:ext cx="2011680" cy="548640"/>
          </a:xfrm>
          <a:prstGeom prst="roundRect">
            <a:avLst/>
          </a:prstGeom>
          <a:solidFill>
            <a:srgbClr val="20784B"/>
          </a:solidFill>
          <a:ln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SAFE / CAUTION / UNSAFE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103120"/>
            <a:ext cx="365760" cy="0"/>
          </a:xfrm>
          <a:prstGeom prst="line">
            <a:avLst/>
          </a:prstGeom>
          <a:ln w="25400">
            <a:solidFill>
              <a:srgbClr val="630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69080" y="2103120"/>
            <a:ext cx="365760" cy="0"/>
          </a:xfrm>
          <a:prstGeom prst="line">
            <a:avLst/>
          </a:prstGeom>
          <a:ln w="25400">
            <a:solidFill>
              <a:srgbClr val="630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89320" y="2103120"/>
            <a:ext cx="365760" cy="0"/>
          </a:xfrm>
          <a:prstGeom prst="line">
            <a:avLst/>
          </a:prstGeom>
          <a:ln w="25400">
            <a:solidFill>
              <a:srgbClr val="630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3063240"/>
            <a:ext cx="23317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3063240"/>
            <a:ext cx="233172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Primary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02152"/>
            <a:ext cx="2112263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t>Patients managing chronic conditions</a:t>
            </a:r>
            <a:br/>
            <a:r>
              <a:t>Registered dietitians</a:t>
            </a:r>
            <a:br/>
            <a:r>
              <a:t>Pharmacists</a:t>
            </a:r>
            <a:br/>
            <a:r>
              <a:t>Care coordinators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063240"/>
            <a:ext cx="25603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54680" y="3063240"/>
            <a:ext cx="256032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3502152"/>
            <a:ext cx="2450592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A patient adds a grocery item to cart.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 err="1"/>
              <a:t>Aegisly</a:t>
            </a:r>
            <a:r>
              <a:rPr dirty="0"/>
              <a:t> checks ingredients and clinical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rules before purchase.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052641"/>
            <a:ext cx="23317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0" y="3072384"/>
            <a:ext cx="233172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511296"/>
            <a:ext cx="228600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Safer food decisions before checkout,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 not after complications occur.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749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630014"/>
                </a:solidFill>
              </a:defRPr>
            </a:pPr>
            <a:r>
              <a:t>Aegisly turns clinical dietary restrictions into real-time shopping guidance.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58368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AIML-501 | Aegisly RAG Capstone | Benita Chinemerem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658368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Business Problem: The Clinical-Commerce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</a:defRPr>
            </a:pPr>
            <a:r>
              <a:t>Online grocery platforms do not understand patient medical history, so patients can unknowingly buy foods that conflict with diabetes, chronic kidney disease, or hypertension.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4231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423160" cy="329184"/>
          </a:xfrm>
          <a:prstGeom prst="roundRect">
            <a:avLst/>
          </a:prstGeom>
          <a:solidFill>
            <a:srgbClr val="962828"/>
          </a:solidFill>
          <a:ln>
            <a:solidFill>
              <a:srgbClr val="9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Diabetes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267712"/>
            <a:ext cx="2109873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“Sugar-free” products may still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contain maltodextrin, dextrose,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or other ingredients that affect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blood sugar.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828800"/>
            <a:ext cx="24231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6120" y="1828800"/>
            <a:ext cx="2423160" cy="329184"/>
          </a:xfrm>
          <a:prstGeom prst="roundRect">
            <a:avLst/>
          </a:prstGeom>
          <a:solidFill>
            <a:srgbClr val="962828"/>
          </a:solidFill>
          <a:ln>
            <a:solidFill>
              <a:srgbClr val="9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Chronic Kidney Disease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267712"/>
            <a:ext cx="2252540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Low-sodium products may contain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 potassium chloride, which can be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 unsafe for CKD patients.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28800"/>
            <a:ext cx="24231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89320" y="1828800"/>
            <a:ext cx="2423160" cy="329184"/>
          </a:xfrm>
          <a:prstGeom prst="roundRect">
            <a:avLst/>
          </a:prstGeom>
          <a:solidFill>
            <a:srgbClr val="962828"/>
          </a:solidFill>
          <a:ln>
            <a:solidFill>
              <a:srgbClr val="9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Hypertension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2267712"/>
            <a:ext cx="2151551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High sodium foods can worsen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blood pressure and increase risk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for complications.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3749039"/>
          <a:ext cx="7406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Current Failure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323"/>
                          </a:solidFill>
                        </a:defRPr>
                      </a:pPr>
                      <a:r>
                        <a:t>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323"/>
                          </a:solidFill>
                        </a:defRPr>
                      </a:pPr>
                      <a:r>
                        <a:t>Overwhelmed by labels and misleading “healthy”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323"/>
                          </a:solidFill>
                        </a:defRPr>
                      </a:pPr>
                      <a:r>
                        <a:t>Retailers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323"/>
                          </a:solidFill>
                        </a:defRPr>
                      </a:pPr>
                      <a:r>
                        <a:t>No clinical context for product warnings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323"/>
                          </a:solidFill>
                        </a:defRPr>
                      </a:pPr>
                      <a:r>
                        <a:t>Providers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323"/>
                          </a:solidFill>
                        </a:defRPr>
                      </a:pPr>
                      <a:r>
                        <a:t>Diet instructions stay disconnected from real shopping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323"/>
                          </a:solidFill>
                        </a:defRPr>
                      </a:pPr>
                      <a:r>
                        <a:t>Insurers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323"/>
                          </a:solidFill>
                        </a:defRPr>
                      </a:pPr>
                      <a:r>
                        <a:t>Pay for preventable diet-related complications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AIML-501 | Aegisly RAG Capstone | Benita Chinemerem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658368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AI Solution: Retrieval-Augmented Generation (RAG)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0">
                <a:solidFill>
                  <a:srgbClr val="232323"/>
                </a:solidFill>
              </a:defRPr>
            </a:pPr>
            <a:r>
              <a:t>Aegisly does not rely on model memory alone. It retrieves trusted clinical and product data first, then generates a grounded response with source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9202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92024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  <a:p>
            <a:r>
              <a:t>User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2267712"/>
            <a:ext cx="1850186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Pharmacist asks: “Why was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this soup flagged?”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828800"/>
            <a:ext cx="19202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192024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  <a:p>
            <a: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267712"/>
            <a:ext cx="1813317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Search </a:t>
            </a:r>
            <a:r>
              <a:rPr dirty="0" err="1"/>
              <a:t>Aegisly</a:t>
            </a:r>
            <a:r>
              <a:rPr dirty="0"/>
              <a:t> knowledge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base and nutrition/product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828800"/>
            <a:ext cx="19202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09160" y="1828800"/>
            <a:ext cx="192024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  <a:p>
            <a:r>
              <a:t>Augmentation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267712"/>
            <a:ext cx="1811714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Inject top relevant context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into the LLM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828800"/>
            <a:ext cx="19202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0" y="1828800"/>
            <a:ext cx="192024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  <a:p>
            <a:r>
              <a:t>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267712"/>
            <a:ext cx="1728358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Return SAFE / CAUTION /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UNSAFE with explanation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3840480"/>
          <a:ext cx="7772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Standard LLM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Aegisly RAG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32323"/>
                          </a:solidFill>
                        </a:defRPr>
                      </a:pPr>
                      <a:r>
                        <a:t>Uses general model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32323"/>
                          </a:solidFill>
                        </a:defRPr>
                      </a:pPr>
                      <a:r>
                        <a:t>Uses verified clinical/product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32323"/>
                          </a:solidFill>
                        </a:defRPr>
                      </a:pPr>
                      <a:r>
                        <a:t>Can hallucinate without evidence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32323"/>
                          </a:solidFill>
                        </a:defRPr>
                      </a:pPr>
                      <a:r>
                        <a:t>Grounded responses with retrieved context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32323"/>
                          </a:solidFill>
                        </a:defRPr>
                      </a:pPr>
                      <a:r>
                        <a:t>Generic health answers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32323"/>
                          </a:solidFill>
                        </a:defRPr>
                      </a:pPr>
                      <a:r>
                        <a:t>Condition-aware food safety 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32323"/>
                          </a:solidFill>
                        </a:defRPr>
                      </a:pPr>
                      <a:r>
                        <a:t>Weak traceability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32323"/>
                          </a:solidFill>
                        </a:defRPr>
                      </a:pPr>
                      <a:r>
                        <a:t>Citation and rule-based support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58368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AIML-501 | Aegisly RAG Capstone | Benita Chinemerem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658368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Product Integration: Where Aegisly Lives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2377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237744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Browser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81912"/>
            <a:ext cx="2239716" cy="977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Chrome / Safari / Edge overlay on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Amazon, Walmart, and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Instacart product pages.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Shows safety badges on product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cards.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143000"/>
            <a:ext cx="2377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37560" y="1143000"/>
            <a:ext cx="237744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JavaScript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7288" y="1581912"/>
            <a:ext cx="2052165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Retailers embed </a:t>
            </a:r>
            <a:r>
              <a:rPr dirty="0" err="1"/>
              <a:t>Aegisly</a:t>
            </a:r>
            <a:r>
              <a:rPr dirty="0"/>
              <a:t> with a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small web component.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Displays safety warnings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directly in cart or checkout.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143000"/>
            <a:ext cx="2377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80760" y="1143000"/>
            <a:ext cx="237744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581912"/>
            <a:ext cx="2244525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Server-to-server endpoint returns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a JSON safety signal for deeper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retail or healthcare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703320"/>
            <a:ext cx="1920240" cy="502920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 Clinical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7033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0">
                <a:solidFill>
                  <a:srgbClr val="232323"/>
                </a:solidFill>
              </a:defRPr>
            </a:pPr>
            <a:r>
              <a:t>Internal knowledge tool for pharmacists, dietitians, care coordinators, and support agents.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83480"/>
            <a:ext cx="10337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0014"/>
                </a:solidFill>
              </a:defRPr>
            </a:pPr>
            <a:r>
              <a:rPr dirty="0"/>
              <a:t>Important boundary: the chatbot answers from the </a:t>
            </a:r>
            <a:r>
              <a:rPr dirty="0" err="1"/>
              <a:t>Aegisly</a:t>
            </a:r>
            <a:r>
              <a:rPr dirty="0"/>
              <a:t> knowledge base and retrieved clinical content, not from general AI training data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AIML-501 | Aegisly RAG Capstone | Benita Chinemerem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658368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Value Add: Business and Clinical Impact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5156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Shopping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Aegisly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2323"/>
                          </a:solidFill>
                        </a:defRPr>
                      </a:pPr>
                      <a:r>
                        <a:t>Manual label reading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2323"/>
                          </a:solidFill>
                        </a:defRPr>
                      </a:pPr>
                      <a:r>
                        <a:t>Automated safety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2323"/>
                          </a:solidFill>
                        </a:defRPr>
                      </a:pPr>
                      <a:r>
                        <a:t>Generic nutrition scores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2323"/>
                          </a:solidFill>
                        </a:defRPr>
                      </a:pPr>
                      <a:r>
                        <a:t>Patient-specific recommendations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2323"/>
                          </a:solidFill>
                        </a:defRPr>
                      </a:pPr>
                      <a:r>
                        <a:t>No medical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2323"/>
                          </a:solidFill>
                        </a:defRPr>
                      </a:pPr>
                      <a:r>
                        <a:t>Clinical condition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2323"/>
                          </a:solidFill>
                        </a:defRPr>
                      </a:pPr>
                      <a:r>
                        <a:t>Reactive care after harm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2323"/>
                          </a:solidFill>
                        </a:defRPr>
                      </a:pPr>
                      <a:r>
                        <a:t>Proactive risk reduction before checkout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85800" y="3429000"/>
            <a:ext cx="21031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3429000"/>
            <a:ext cx="2103120" cy="329184"/>
          </a:xfrm>
          <a:prstGeom prst="roundRect">
            <a:avLst/>
          </a:prstGeom>
          <a:solidFill>
            <a:srgbClr val="20784B"/>
          </a:solidFill>
          <a:ln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Patient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867912"/>
            <a:ext cx="1967205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Flags risky ingredients before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purchase and supports safer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dietary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3429000"/>
            <a:ext cx="21031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71800" y="3429000"/>
            <a:ext cx="2103120" cy="329184"/>
          </a:xfrm>
          <a:prstGeom prst="roundRect">
            <a:avLst/>
          </a:prstGeom>
          <a:solidFill>
            <a:srgbClr val="20784B"/>
          </a:solidFill>
          <a:ln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Shopping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3867912"/>
            <a:ext cx="1978427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Reduces time spent decoding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labels and conflicting health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3429000"/>
            <a:ext cx="21031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57800" y="3429000"/>
            <a:ext cx="2103120" cy="329184"/>
          </a:xfrm>
          <a:prstGeom prst="roundRect">
            <a:avLst/>
          </a:prstGeom>
          <a:solidFill>
            <a:srgbClr val="20784B"/>
          </a:solidFill>
          <a:ln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Healthcare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528" y="3867912"/>
            <a:ext cx="212910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Targets preventable diet-related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 complications and ER visits.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29000"/>
            <a:ext cx="25857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43800" y="3429000"/>
            <a:ext cx="1280160" cy="329184"/>
          </a:xfrm>
          <a:prstGeom prst="roundRect">
            <a:avLst/>
          </a:prstGeom>
          <a:solidFill>
            <a:srgbClr val="20784B"/>
          </a:solidFill>
          <a:ln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Retailer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3867912"/>
            <a:ext cx="2372765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Creates a clinically aware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shopping layer that can differentiate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 health-focused retailers.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58368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AIML-501 | Aegisly RAG Capstone | Benita Chinemerem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658368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Data Details: Sources, Processing, and Storage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60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USDA FoodData Central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Nutrition values and food 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Open Food Facts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Ingredient lists and product details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GS1 Product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Standardized product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ICD-10 Conditions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Clinical diagnosis context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Aegisly Safety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323"/>
                          </a:solidFill>
                        </a:defRPr>
                      </a:pPr>
                      <a:r>
                        <a:t>Condition-specific dietary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3886200"/>
            <a:ext cx="1234440" cy="457200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3886200"/>
            <a:ext cx="1234440" cy="457200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Chunking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3886200"/>
            <a:ext cx="1234440" cy="457200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Embeddings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886200"/>
            <a:ext cx="1234440" cy="457200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Vector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886200"/>
            <a:ext cx="1234440" cy="457200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Retriever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86200"/>
            <a:ext cx="1234440" cy="457200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Grounded Response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4114800"/>
            <a:ext cx="320040" cy="0"/>
          </a:xfrm>
          <a:prstGeom prst="line">
            <a:avLst/>
          </a:prstGeom>
          <a:ln w="20320">
            <a:solidFill>
              <a:srgbClr val="630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54680" y="4114800"/>
            <a:ext cx="320040" cy="0"/>
          </a:xfrm>
          <a:prstGeom prst="line">
            <a:avLst/>
          </a:prstGeom>
          <a:ln w="20320">
            <a:solidFill>
              <a:srgbClr val="630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80" y="4114800"/>
            <a:ext cx="320040" cy="0"/>
          </a:xfrm>
          <a:prstGeom prst="line">
            <a:avLst/>
          </a:prstGeom>
          <a:ln w="20320">
            <a:solidFill>
              <a:srgbClr val="630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97880" y="4114800"/>
            <a:ext cx="320040" cy="0"/>
          </a:xfrm>
          <a:prstGeom prst="line">
            <a:avLst/>
          </a:prstGeom>
          <a:ln w="20320">
            <a:solidFill>
              <a:srgbClr val="630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69480" y="4114800"/>
            <a:ext cx="320040" cy="0"/>
          </a:xfrm>
          <a:prstGeom prst="line">
            <a:avLst/>
          </a:prstGeom>
          <a:ln w="20320">
            <a:solidFill>
              <a:srgbClr val="630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83480" y="1005840"/>
            <a:ext cx="33832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83480" y="1005840"/>
            <a:ext cx="338328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Prototype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444752"/>
            <a:ext cx="330891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ChatGPT Custom GPT knowledge files for hackathon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 and capstone demonstration.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2148840"/>
            <a:ext cx="33832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83480" y="2148840"/>
            <a:ext cx="338328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Production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2587752"/>
            <a:ext cx="3217547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HIPAA-aware storage, encryption at rest,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TLS in transit, role-based access, and audit logging.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58368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AIML-501 | Aegisly RAG Capstone | Benita Chinemerem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658368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Validation &amp; Accuracy: Guardrails and Responsible 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Validation Method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Expected Outcome</a:t>
                      </a:r>
                    </a:p>
                  </a:txBody>
                  <a:tcPr>
                    <a:solidFill>
                      <a:srgbClr val="6300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Ground Truth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Compare answers to known clinical/product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Correct response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SME Review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Dietitian/pharmacist reviews risky cases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Clinical reasonableness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Citation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Check that answers cite retrieved source sections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Traceable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Hallucination Testing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Ask out-of-scope questions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323"/>
                          </a:solidFill>
                        </a:defRPr>
                      </a:pPr>
                      <a:r>
                        <a:t>Refusal instead of invention</a:t>
                      </a:r>
                    </a:p>
                  </a:txBody>
                  <a:tcPr>
                    <a:solidFill>
                      <a:srgbClr val="F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3337560"/>
            <a:ext cx="23774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3337560"/>
            <a:ext cx="2377440" cy="329184"/>
          </a:xfrm>
          <a:prstGeom prst="roundRect">
            <a:avLst/>
          </a:prstGeom>
          <a:solidFill>
            <a:srgbClr val="962828"/>
          </a:solidFill>
          <a:ln>
            <a:solidFill>
              <a:srgbClr val="9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76472"/>
            <a:ext cx="2157984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t>Citation required</a:t>
            </a:r>
            <a:br/>
            <a:r>
              <a:t>Retrieval-only answers</a:t>
            </a:r>
            <a:br/>
            <a:r>
              <a:t>No diagnosis</a:t>
            </a:r>
            <a:br/>
            <a:r>
              <a:t>No medication advice</a:t>
            </a:r>
            <a:br/>
            <a:r>
              <a:t>Out-of-scope refusal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3337560"/>
            <a:ext cx="24688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7560" y="3337560"/>
            <a:ext cx="2468880" cy="329184"/>
          </a:xfrm>
          <a:prstGeom prst="round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Accuracy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3776472"/>
            <a:ext cx="2359152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5-query evaluation table from residency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 demo showed grounded answers,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no fabrication, and refusal on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subscription pricing.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337560"/>
            <a:ext cx="23774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26480" y="3337560"/>
            <a:ext cx="2377440" cy="329184"/>
          </a:xfrm>
          <a:prstGeom prst="roundRect">
            <a:avLst/>
          </a:prstGeom>
          <a:solidFill>
            <a:srgbClr val="20784B"/>
          </a:solidFill>
          <a:ln>
            <a:solidFill>
              <a:srgbClr val="2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Ethical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776472"/>
            <a:ext cx="226536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Genesis 2:15 frames stewardship: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rPr dirty="0"/>
              <a:t> systems we build should be cared </a:t>
            </a:r>
            <a:endParaRPr lang="en-US" dirty="0"/>
          </a:p>
          <a:p>
            <a:pPr>
              <a:defRPr sz="1150">
                <a:solidFill>
                  <a:srgbClr val="232323"/>
                </a:solidFill>
              </a:defRPr>
            </a:pPr>
            <a:r>
              <a:t>for, validated, and maintained </a:t>
            </a:r>
            <a:endParaRPr lang="en-US"/>
          </a:p>
          <a:p>
            <a:pPr>
              <a:defRPr sz="1150">
                <a:solidFill>
                  <a:srgbClr val="232323"/>
                </a:solidFill>
              </a:defRPr>
            </a:pPr>
            <a:r>
              <a:t>responsibly.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630014"/>
                </a:solidFill>
              </a:defRPr>
            </a:pPr>
            <a:r>
              <a:t>Final Outcome: A production-hardened RAG assistant that prioritizes grounding, safety, and clinical trust.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630014"/>
          </a:solidFill>
          <a:ln>
            <a:solidFill>
              <a:srgbClr val="63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AIML-501 | Aegisly RAG Capstone | Benita Chinemerem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658368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804</Words>
  <Application>Microsoft Office PowerPoint</Application>
  <PresentationFormat>Widescreen</PresentationFormat>
  <Paragraphs>183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Benita Chinemerem</dc:creator>
  <cp:keywords/>
  <dc:description>generated using python-pptx</dc:description>
  <cp:lastModifiedBy>Benita Chinemerem</cp:lastModifiedBy>
  <cp:revision>3</cp:revision>
  <dcterms:created xsi:type="dcterms:W3CDTF">2013-01-27T09:14:16Z</dcterms:created>
  <dcterms:modified xsi:type="dcterms:W3CDTF">2026-06-18T23:30:00Z</dcterms:modified>
  <cp:category/>
</cp:coreProperties>
</file>