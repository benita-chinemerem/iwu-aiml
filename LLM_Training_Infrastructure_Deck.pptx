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0120" y="1051560"/>
            <a:ext cx="10287000" cy="64008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 sz="2400" dirty="0">
                <a:latin typeface="Aptos" panose="020B0004020202020204" pitchFamily="34" charset="0"/>
              </a:rPr>
              <a:t>Training Generative AI Large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0477" y="1874519"/>
            <a:ext cx="7506286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1320" b="1">
                <a:solidFill>
                  <a:srgbClr val="8B0000"/>
                </a:solidFill>
                <a:latin typeface="Arial"/>
              </a:defRPr>
            </a:pPr>
            <a:r>
              <a:rPr dirty="0"/>
              <a:t>A </a:t>
            </a:r>
            <a:r>
              <a:rPr sz="1600" dirty="0">
                <a:latin typeface="Aptos" panose="020B0004020202020204" pitchFamily="34" charset="0"/>
              </a:rPr>
              <a:t>Deep</a:t>
            </a:r>
            <a:r>
              <a:rPr dirty="0"/>
              <a:t> Dive into GPT-4 and Claude Infrastructure, Resource Costs, and Training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3907" y="3886200"/>
            <a:ext cx="4633705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50" b="0">
                <a:solidFill>
                  <a:srgbClr val="8B0000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Benita Chinemerem  |  AIML-501  |  Portfolio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31620" y="4507946"/>
            <a:ext cx="9144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Artifact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5001768"/>
            <a:ext cx="8869680" cy="56692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50" b="0">
                <a:solidFill>
                  <a:srgbClr val="222222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A professional portfolio presentation that explains how advanced LLMs are trained and why data, compute, energy, and time drive model capability and cost.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Purpose of This Artifact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835640" cy="5029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This presentation communicates the training process and resource costs behind modern generative AI models using a clear slide-based infographic format.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83564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Portfolio Artifact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84831"/>
            <a:ext cx="10561320" cy="676656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000" b="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This artifact uses GPT-4 and Claude as two major examples to show how large language models move from raw data to deployed AI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7436972" cy="126957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222222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Illustrates the end-to-end LLM training pipeline.</a:t>
            </a:r>
          </a:p>
          <a:p>
            <a:pPr>
              <a:spcAft>
                <a:spcPts val="500"/>
              </a:spcAft>
              <a:defRPr sz="1230">
                <a:solidFill>
                  <a:srgbClr val="222222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Explains resource categories: data, compute, energy, time, and human feedback.</a:t>
            </a:r>
          </a:p>
          <a:p>
            <a:pPr>
              <a:spcAft>
                <a:spcPts val="500"/>
              </a:spcAft>
              <a:defRPr sz="1230">
                <a:solidFill>
                  <a:srgbClr val="222222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Compares GPT-4 and Claude as real-world generative AI systems.</a:t>
            </a:r>
          </a:p>
          <a:p>
            <a:pPr>
              <a:spcAft>
                <a:spcPts val="500"/>
              </a:spcAft>
              <a:defRPr sz="1230">
                <a:solidFill>
                  <a:srgbClr val="222222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Shows why infrastructure investment matters for model performance and reliability.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3302" y="6473952"/>
            <a:ext cx="256738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What Is LLM Training?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173" y="1143000"/>
            <a:ext cx="12000336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1050" b="0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Large language model training is the process of teaching transformer-based AI systems to predict, generate, and refine language patterns using massive datasets and high-performance computing.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38528"/>
            <a:ext cx="107442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Simple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50008"/>
            <a:ext cx="10469880" cy="74980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000" b="0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An LLM learns from trillions of tokens, updates billions of model weights, and is refined through alignment methods so it can generate useful and safer responses.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446165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1080" b="1">
                <a:solidFill>
                  <a:srgbClr val="8B0000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Common LLM tasks: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1552669" cy="119519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Question answering</a:t>
            </a:r>
          </a:p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Text summarization</a:t>
            </a:r>
          </a:p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Coding assistance</a:t>
            </a:r>
          </a:p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Reasoning and planning</a:t>
            </a:r>
          </a:p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Multimodal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657600"/>
            <a:ext cx="1333955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1080" b="1">
                <a:solidFill>
                  <a:srgbClr val="8B0000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Major cost drivers: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4023360"/>
            <a:ext cx="2241960" cy="119519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Dataset scale and quality</a:t>
            </a:r>
          </a:p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GPU/TPU training clusters</a:t>
            </a:r>
          </a:p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Energy and cooling needs</a:t>
            </a:r>
          </a:p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Training and evaluation time</a:t>
            </a:r>
          </a:p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Human feedback and safety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3812197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6966" y="6473952"/>
            <a:ext cx="223074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100">
                <a:latin typeface="Aptos" panose="020B00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Overall Generative AI Training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Data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Clean +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Tokenize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Transformer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Pretraining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RLHF +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Deployment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Inference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304288"/>
            <a:ext cx="54864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60520" y="2304288"/>
            <a:ext cx="82296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2304288"/>
            <a:ext cx="100584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304288"/>
            <a:ext cx="91440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296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6012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728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6514" y="4315968"/>
            <a:ext cx="518733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16" name="Oval 15"/>
          <p:cNvSpPr/>
          <p:nvPr/>
        </p:nvSpPr>
        <p:spPr>
          <a:xfrm>
            <a:off x="283464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97180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10896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97856" y="4315968"/>
            <a:ext cx="879408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Compute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21208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34924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44191" y="4315968"/>
            <a:ext cx="667299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Energy</a:t>
            </a:r>
          </a:p>
        </p:txBody>
      </p:sp>
      <p:sp>
        <p:nvSpPr>
          <p:cNvPr id="24" name="Oval 23"/>
          <p:cNvSpPr/>
          <p:nvPr/>
        </p:nvSpPr>
        <p:spPr>
          <a:xfrm>
            <a:off x="754380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68096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81812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83699" y="4315968"/>
            <a:ext cx="526042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Time</a:t>
            </a:r>
          </a:p>
        </p:txBody>
      </p:sp>
      <p:sp>
        <p:nvSpPr>
          <p:cNvPr id="28" name="Oval 27"/>
          <p:cNvSpPr/>
          <p:nvPr/>
        </p:nvSpPr>
        <p:spPr>
          <a:xfrm>
            <a:off x="982980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96696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10412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7692" y="4315968"/>
            <a:ext cx="910057" cy="504754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Human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755" y="5166360"/>
            <a:ext cx="192713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64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Raw text, code,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8073" y="5166360"/>
            <a:ext cx="2013693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64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Pattern learning at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3476" y="5166360"/>
            <a:ext cx="1652248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64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Safety + usefulness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8645" y="5166360"/>
            <a:ext cx="203671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64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Millions of user requests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06126" y="6473952"/>
            <a:ext cx="24391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Component 1: Data Acquisition and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8263544" cy="11464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LLMs require large and diverse datasets from books, websites, code, academic text, and conversations.</a:t>
            </a:r>
          </a:p>
          <a:p>
            <a:pPr>
              <a:spcAft>
                <a:spcPts val="500"/>
              </a:spcAft>
              <a:defRPr sz="113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Data quality affects the model's reasoning, language fluency, bias, and reliability.</a:t>
            </a:r>
          </a:p>
          <a:p>
            <a:pPr>
              <a:spcAft>
                <a:spcPts val="500"/>
              </a:spcAft>
              <a:defRPr sz="113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Poor data can introduce misinformation, stereotypes, and weak performance on underrepresented topics.</a:t>
            </a:r>
          </a:p>
          <a:p>
            <a:pPr>
              <a:spcAft>
                <a:spcPts val="500"/>
              </a:spcAft>
              <a:defRPr sz="113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Filtering, deduplication, and licensing choices directly affect training cost.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2280543"/>
            <a:ext cx="48463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74830" y="2734056"/>
            <a:ext cx="4572000" cy="1216152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40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GPT-4 and Claude rely on internet-scale data, but the exact composition of closed commercial models is not fully public.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4268478"/>
            <a:ext cx="48463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Aptos" panose="020B0004020202020204" pitchFamily="34" charset="0"/>
              </a:rPr>
              <a:t>Key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994492"/>
            <a:ext cx="4572000" cy="9601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40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More data does not automatically mean better AI. The strongest models depend on both scale and careful data quality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6126" y="6473952"/>
            <a:ext cx="24391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Component 2: Tokenization and Model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05840"/>
            <a:ext cx="10835640" cy="65836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000" b="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Tokenization breaks text into smaller units called tokens. The transformer model then learns relationships between tokens through attention layers and model weights.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057400"/>
            <a:ext cx="8412480" cy="1051560"/>
          </a:xfrm>
          <a:prstGeom prst="roundRect">
            <a:avLst/>
          </a:prstGeom>
          <a:solidFill>
            <a:srgbClr val="FFF7F7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8B0000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text → tokens → embeddings → transformer layers → next-token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49039"/>
            <a:ext cx="8451609" cy="959237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Tokens are the model's basic unit of learning.</a:t>
            </a:r>
          </a:p>
          <a:p>
            <a:pPr>
              <a:spcAft>
                <a:spcPts val="5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Model weights are adjusted during training to reduce prediction error.</a:t>
            </a:r>
          </a:p>
          <a:p>
            <a:pPr>
              <a:spcAft>
                <a:spcPts val="5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More layers and parameters increase capability but also raise compute, energy, and time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302" y="6473952"/>
            <a:ext cx="256738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Component 3: Compute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1083564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56692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50" b="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Compute infrastructure refers to the GPU/TPU clusters, networking, storage, and cloud systems used to train and serve large language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8174097" cy="959237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Advanced models train across thousands of accelerators.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Distributed training splits data and model computation across machines.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Failures, networking delays, and hardware utilization become major engineering challenges.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77639"/>
            <a:ext cx="4846320" cy="82296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0">
                <a:solidFill>
                  <a:srgbClr val="222222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Compute is usually the largest training cost because accelerators, cloud usage, networking, and cooling must run continuously during training.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93302" y="6473952"/>
            <a:ext cx="256738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Component 4: Primary Resource Categories and 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835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What It Includes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Text, code, books, web pages, feedback data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Improves coverage and reasoning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GPU/TPU clusters, cloud systems, networking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Controls model scale and training speed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Electricity, cooling, data center operations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Raises environmental and operating cost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Weeks/months of pretraining and testing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Affects development cost and iteration speed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Human feedback, safety testing, evaluation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rPr dirty="0"/>
                        <a:t>Improves alignment and reliability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93302" y="6473952"/>
            <a:ext cx="256738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Component 5: Loss, Evaluation, and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05840"/>
            <a:ext cx="1083564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89888"/>
            <a:ext cx="10561320" cy="65836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50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Loss measures how wrong the model is during training. Evaluation and alignment measure whether the model is useful, safe, factual, and reliable for real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5485733" cy="86690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Pretraining loss guides the model toward better next-token prediction.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Benchmarks test reasoning, coding, knowledge, and factual accuracy.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RLHF and Constitutional AI use feedback to shape safer outputs.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33172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22222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22222"/>
                          </a:solidFill>
                        </a:defRPr>
                      </a:pPr>
                      <a:r>
                        <a:t>Reduce prediction error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22222"/>
                          </a:solidFill>
                        </a:defRPr>
                      </a:pPr>
                      <a:r>
                        <a:t>RLHF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22222"/>
                          </a:solidFill>
                        </a:defRPr>
                      </a:pPr>
                      <a:r>
                        <a:t>Improve helpfulness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22222"/>
                          </a:solidFill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22222"/>
                          </a:solidFill>
                        </a:defRPr>
                      </a:pPr>
                      <a:r>
                        <a:t>Reduce harmful behavior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4434840"/>
            <a:ext cx="48463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Key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4892040"/>
            <a:ext cx="4572000" cy="7315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80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 model can be powerful and still unsafe if evaluation and alignment are weak.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6127" y="6473952"/>
            <a:ext cx="243913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Component 6: Energy, Time, and Deployment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05840"/>
            <a:ext cx="1083564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Why Cost Continues After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89888"/>
            <a:ext cx="10561320" cy="65836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50" b="0">
                <a:solidFill>
                  <a:srgbClr val="222222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The cost of an LLM does not end after pretraining. Once deployed, the model must run inference for users, scale across cloud systems, and continue safety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5642827" cy="774571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222222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Training cost includes hardware, cloud usage, energy, storage, and engineering time.</a:t>
            </a:r>
          </a:p>
          <a:p>
            <a:pPr>
              <a:spcAft>
                <a:spcPts val="500"/>
              </a:spcAft>
              <a:defRPr sz="1060">
                <a:solidFill>
                  <a:srgbClr val="222222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Inference cost grows with the number of users and length of prompts/responses.</a:t>
            </a:r>
          </a:p>
          <a:p>
            <a:pPr>
              <a:spcAft>
                <a:spcPts val="500"/>
              </a:spcAft>
              <a:defRPr sz="1060">
                <a:solidFill>
                  <a:srgbClr val="222222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Energy demand creates sustainability and data center planning challenges.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71765" y="4434840"/>
            <a:ext cx="3108960" cy="1188720"/>
          </a:xfrm>
          <a:prstGeom prst="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00" b="1">
                <a:solidFill>
                  <a:srgbClr val="8B0000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1765" y="3488436"/>
            <a:ext cx="3108960" cy="914400"/>
          </a:xfrm>
          <a:prstGeom prst="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00" b="1">
                <a:solidFill>
                  <a:srgbClr val="8B0000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Inference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1765" y="2786634"/>
            <a:ext cx="3108960" cy="685800"/>
          </a:xfrm>
          <a:prstGeom prst="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00" b="1">
                <a:solidFill>
                  <a:srgbClr val="8B0000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71765" y="2329434"/>
            <a:ext cx="3108960" cy="457200"/>
          </a:xfrm>
          <a:prstGeom prst="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00" b="1">
                <a:solidFill>
                  <a:srgbClr val="8B0000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5788152"/>
            <a:ext cx="3794760" cy="5029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720" b="0">
                <a:solidFill>
                  <a:srgbClr val="222222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Cost layers continue throughout the model lifecycle.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4143185" cy="258532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8800" y="6473952"/>
            <a:ext cx="311240" cy="258532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200">
                <a:latin typeface="Aptos" panose="020B0004020202020204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How LLM Training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Input Tokens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Forward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Calculate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Update Weights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Repeat at Scale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971800"/>
            <a:ext cx="50292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2971800"/>
            <a:ext cx="54864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2971800"/>
            <a:ext cx="32004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2971800"/>
            <a:ext cx="68580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2971800"/>
            <a:ext cx="68580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3886200"/>
            <a:ext cx="2468880" cy="9601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750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Training repeats billions of times across many GPUs until model loss improves and evaluation goals are met.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166360"/>
            <a:ext cx="1042416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Training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532120"/>
            <a:ext cx="10149840" cy="5029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00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Predict, measure error, update weights, evaluate behavior, and repeat across huge datasets and distributed infrastructure.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09946" y="6473952"/>
            <a:ext cx="34009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Model Deep Dive: GPT-4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8622617" cy="11464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GPT-4 is a large-scale multimodal model that can accept image and text inputs and generate text outputs.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OpenAI has not fully disclosed GPT-4's architecture, dataset composition, or exact compute details.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Public reporting estimated GPT-4 training cost above $100M, showing the scale of advanced LLM development.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Its infrastructure emphasizes scale, reasoning, coding capability, and broad general-purpose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7993" y="2567694"/>
            <a:ext cx="4572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Infrastructure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3048420"/>
            <a:ext cx="4297680" cy="18288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19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Data: internet-scale multimodal datasets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Compute: massive GPU clusters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Cost: publicly estimated at $100M+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Alignment: RLHF and safety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4942332"/>
            <a:ext cx="4572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Key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5532120"/>
            <a:ext cx="4297680" cy="84124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30" b="0">
                <a:solidFill>
                  <a:srgbClr val="222222"/>
                </a:solidFill>
                <a:latin typeface="Arial"/>
              </a:defRPr>
            </a:pPr>
            <a:r>
              <a:rPr sz="1400" dirty="0">
                <a:latin typeface="Aptos" panose="020B0004020202020204" pitchFamily="34" charset="0"/>
              </a:rPr>
              <a:t>GPT-4 shows how model capability depends on scale, data quality, compute infrastructure, and post-training alignment.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9946" y="6473952"/>
            <a:ext cx="34009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Model Deep Dive: Claude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645076" cy="11464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Claude is Anthropic's generative AI assistant designed with a strong emphasis on safety and alignment.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Anthropic uses Constitutional AI, where a set of principles helps shape model behavior during training.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Training includes supervised learning and reinforcement learning phases focused on helpful and harmless responses.</a:t>
            </a:r>
          </a:p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Claude's cost structure includes compute, data processing, human/AI feedback, evaluation, and deployment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2601790"/>
            <a:ext cx="4572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Infrastructure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3116448"/>
            <a:ext cx="4297680" cy="18288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19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Data: large-scale text and feedback data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Compute: cloud training infrastructure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Cost: high alignment + inference cost</a:t>
            </a:r>
            <a:br>
              <a:rPr sz="1400">
                <a:latin typeface="Aptos" panose="020B0004020202020204" pitchFamily="34" charset="0"/>
              </a:rPr>
            </a:br>
            <a:r>
              <a:rPr sz="1400">
                <a:latin typeface="Aptos" panose="020B0004020202020204" pitchFamily="34" charset="0"/>
              </a:rPr>
              <a:t>Alignment: Constitutional AI + feedback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5037240"/>
            <a:ext cx="4572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Key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5532120"/>
            <a:ext cx="4297680" cy="84124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30" b="0">
                <a:solidFill>
                  <a:srgbClr val="222222"/>
                </a:solidFill>
                <a:latin typeface="Arial"/>
              </a:defRPr>
            </a:pPr>
            <a:r>
              <a:rPr sz="1400" dirty="0">
                <a:latin typeface="Aptos" panose="020B0004020202020204" pitchFamily="34" charset="0"/>
              </a:rPr>
              <a:t>Claude highlights that responsible AI cost is not only compute; safety, evaluation, and alignment also require major investment.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9946" y="6473952"/>
            <a:ext cx="34009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GPT-4 vs Claude: Infrastructure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090468"/>
              </p:ext>
            </p:extLst>
          </p:nvPr>
        </p:nvGraphicFramePr>
        <p:xfrm>
          <a:off x="685800" y="1143000"/>
          <a:ext cx="108356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Category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GPT-4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Claude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 dirty="0"/>
                        <a:t>Core focus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Scale, reasoning, multimodal performance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Safety, alignment, reliable assistance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Training cost driver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Massive data + compute + evaluation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Compute + Constitutional AI + alignment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 dirty="0"/>
                        <a:t>Infrastructure challenge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GPU scale, energy, inference serving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Safety evaluation and deployment scaling</a:t>
                      </a:r>
                    </a:p>
                  </a:txBody>
                  <a:tcPr>
                    <a:solidFill>
                      <a:srgbClr val="FC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Main takeaway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/>
                        <a:t>Capability comes from scale and optimization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222222"/>
                          </a:solidFill>
                        </a:defRPr>
                      </a:pPr>
                      <a:r>
                        <a:rPr sz="1600" dirty="0"/>
                        <a:t>Trust depends heavily on alignment design</a:t>
                      </a:r>
                    </a:p>
                  </a:txBody>
                  <a:tcP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234440" y="4663440"/>
            <a:ext cx="973836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Main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5074920"/>
            <a:ext cx="9372600" cy="64008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00" b="0">
                <a:solidFill>
                  <a:srgbClr val="222222"/>
                </a:solidFill>
                <a:latin typeface="Arial"/>
              </a:defRPr>
            </a:pPr>
            <a:r>
              <a:rPr sz="1600" dirty="0">
                <a:latin typeface="Aptos" panose="020B0004020202020204" pitchFamily="34" charset="0"/>
              </a:rPr>
              <a:t>LLM capability is not only a model architecture issue. It depends on the full system: data quality, compute scale, energy, training time, evaluation, and responsible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98" y="6473952"/>
            <a:ext cx="365742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Portfolio Artifact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" y="1234440"/>
            <a:ext cx="101041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Artifact-Specific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627632"/>
            <a:ext cx="9829800" cy="11430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50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This artifact helps AI students, instructors, and early technology professionals understand the infrastructure behind generative AI. It demonstrates my ability to simplify complex AI systems, compare real-world models, and communicate technical resource costs clearly.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154680"/>
            <a:ext cx="7786106" cy="86690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Audience: AIML students, instructors, and beginner AI learners.</a:t>
            </a:r>
          </a:p>
          <a:p>
            <a:pPr>
              <a:spcAft>
                <a:spcPts val="500"/>
              </a:spcAft>
              <a:defRPr sz="106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Value: Clear explanation of the LLM training process and infrastructure costs.</a:t>
            </a:r>
          </a:p>
          <a:p>
            <a:pPr>
              <a:spcAft>
                <a:spcPts val="500"/>
              </a:spcAft>
              <a:defRPr sz="106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Skill demonstrated: Technical communication, visual learning design, and AI infrastructure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5074920"/>
            <a:ext cx="101041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Sources Reviewed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440680"/>
            <a:ext cx="9829800" cy="59436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80" b="0">
                <a:solidFill>
                  <a:srgbClr val="222222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OpenAI GPT-4 Technical Report; Anthropic Constitutional AI resources; course resources on LLMs and ChatGPT; public industry reporting on AI training infrastructure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AIML-501 | Generative AI Infrastructure | Benita Chinemerem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9946" y="6473952"/>
            <a:ext cx="34009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400">
                <a:latin typeface="Aptos" panose="020B0004020202020204" pitchFamily="34" charset="0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1522</Words>
  <Application>Microsoft Office PowerPoint</Application>
  <PresentationFormat>Widescreen</PresentationFormat>
  <Paragraphs>194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Benita Chinemerem</dc:creator>
  <cp:keywords/>
  <dc:description>generated using python-pptx</dc:description>
  <cp:lastModifiedBy>Benita Chinemerem</cp:lastModifiedBy>
  <cp:revision>2</cp:revision>
  <dcterms:created xsi:type="dcterms:W3CDTF">2013-01-27T09:14:16Z</dcterms:created>
  <dcterms:modified xsi:type="dcterms:W3CDTF">2026-05-25T05:08:31Z</dcterms:modified>
  <cp:category/>
</cp:coreProperties>
</file>