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4360"/>
            <a:ext cx="10835640" cy="2743200"/>
          </a:xfrm>
          <a:prstGeom prst="roundRect">
            <a:avLst>
              <a:gd name="adj" fmla="val 3333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987552"/>
            <a:ext cx="10287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Explainable AI (XAI)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1847088"/>
            <a:ext cx="100126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EC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 Trust in Large Language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3749040"/>
            <a:ext cx="9235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Benita Chinemerem  |  AIML-501  |  June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08760" y="4389120"/>
            <a:ext cx="91440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73352" y="4498848"/>
            <a:ext cx="8814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Artifact Purpose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73352" y="4864608"/>
            <a:ext cx="8814816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professional portfolio presentation that explains explainable AI, validation, performance metrics, and industry approaches for making large language models more trustworthy.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Purpose of This Artifact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10835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344168"/>
            <a:ext cx="10506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Artifact Goal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1709928"/>
            <a:ext cx="10506456" cy="4846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presentation explains how explainability, validation, metrics, and human oversight work together to support trustworthy AI systems.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98755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explainable AI in clear language for non-technical audiences.
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Classify the main challenges that make LLM outputs difficult to interpret.
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industry efforts from OpenAI, Anthropic, Google, and Meta.
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how validation and performance metrics help measure reliability.
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 XAI concepts to practical decision-making and responsible AI use.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Explainable AI?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AI is the process of making AI outputs, predictions, and decisions easier for people to understand and evaluate.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2240280" cy="1143000"/>
          </a:xfrm>
          <a:prstGeom prst="roundRect">
            <a:avLst>
              <a:gd name="adj" fmla="val 9600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2441448"/>
            <a:ext cx="1911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807208"/>
            <a:ext cx="1911096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output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2715768"/>
            <a:ext cx="502920" cy="310896"/>
          </a:xfrm>
          <a:prstGeom prst="rightArrow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331720"/>
            <a:ext cx="2240280" cy="1143000"/>
          </a:xfrm>
          <a:prstGeom prst="roundRect">
            <a:avLst>
              <a:gd name="adj" fmla="val 9600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30752" y="2441448"/>
            <a:ext cx="1911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Explanation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30752" y="2807208"/>
            <a:ext cx="1911096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 reason &amp; evidence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06440" y="2715768"/>
            <a:ext cx="502920" cy="310896"/>
          </a:xfrm>
          <a:prstGeom prst="rightArrow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331720"/>
            <a:ext cx="2240280" cy="1143000"/>
          </a:xfrm>
          <a:prstGeom prst="roundRect">
            <a:avLst>
              <a:gd name="adj" fmla="val 9600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2441448"/>
            <a:ext cx="1911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Understanding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2807208"/>
            <a:ext cx="1911096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interprets result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49640" y="2715768"/>
            <a:ext cx="502920" cy="310896"/>
          </a:xfrm>
          <a:prstGeom prst="rightArrow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2331720"/>
            <a:ext cx="2240280" cy="1143000"/>
          </a:xfrm>
          <a:prstGeom prst="roundRect">
            <a:avLst>
              <a:gd name="adj" fmla="val 9600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17152" y="2441448"/>
            <a:ext cx="19110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Trusted Decision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17152" y="2807208"/>
            <a:ext cx="1911096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with oversight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114800"/>
            <a:ext cx="106984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1832" y="4224528"/>
            <a:ext cx="103692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Definition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" y="4590288"/>
            <a:ext cx="10369296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 helps people move from “the model said this” to “I understand why this result may be reasonable, risky, or incomplete.”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Explainability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2011680" cy="822960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51760" y="1234440"/>
            <a:ext cx="4572000" cy="822960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280160"/>
            <a:ext cx="4480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Transparency Matters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223760" y="1234440"/>
            <a:ext cx="4343400" cy="822960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1280160"/>
            <a:ext cx="42519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Risk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20116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651760" y="2057400"/>
            <a:ext cx="457200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103120"/>
            <a:ext cx="4480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and clinicians need to understand model-assisted recommendations.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7223760" y="2057400"/>
            <a:ext cx="434340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2103120"/>
            <a:ext cx="42519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suggests treatment without explaining uncertainty.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20116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651760" y="2880360"/>
            <a:ext cx="457200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926080"/>
            <a:ext cx="4480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Applicants need fair and accountable credit or lending decisions.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223760" y="2880360"/>
            <a:ext cx="434340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2926080"/>
            <a:ext cx="42519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loan decision is denied without clear factors.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20116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Law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651760" y="3703320"/>
            <a:ext cx="457200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3749040"/>
            <a:ext cx="4480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recommendations must be auditable and ethically defensible.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7223760" y="3703320"/>
            <a:ext cx="434340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3749040"/>
            <a:ext cx="42519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system summarizes precedent incorrectly.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40080" y="4526280"/>
            <a:ext cx="201168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72000"/>
            <a:ext cx="19202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Automotive Safety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651760" y="4526280"/>
            <a:ext cx="457200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4572000"/>
            <a:ext cx="44805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teams need evidence behind risk signals and escalation decisions.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223760" y="4526280"/>
            <a:ext cx="434340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4572000"/>
            <a:ext cx="42519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issue is missed or an alert is not trusted.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868680" y="5532120"/>
            <a:ext cx="10378440" cy="594360"/>
          </a:xfrm>
          <a:prstGeom prst="roundRect">
            <a:avLst>
              <a:gd name="adj" fmla="val 18462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33272" y="5641848"/>
            <a:ext cx="100492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Point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33272" y="6007608"/>
            <a:ext cx="10049256" cy="27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 is not just a technical feature. It affects trust, accountability, adoption, and human decision-making.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1: Model Opacity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344168"/>
            <a:ext cx="5065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1709928"/>
            <a:ext cx="5065776" cy="4846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language models are often described as “black boxes” because their outputs emerge from complex interactions across billions of parameters.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3035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82512" y="1344168"/>
            <a:ext cx="49743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82512" y="1709928"/>
            <a:ext cx="4974336" cy="4846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response may sound confident, but users may not know which data, pattern, or internal representation influenced the answer.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102412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reasoning path is distributed across many layers and parameters.
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model predicts language patterns rather than showing a human-style decision chain.
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capable models can become harder to inspect directly.
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Post-hoc explanations can help, but they do not always reveal true internal behavior.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5303520"/>
            <a:ext cx="10332720" cy="640080"/>
          </a:xfrm>
          <a:prstGeom prst="roundRect">
            <a:avLst>
              <a:gd name="adj" fmla="val 17143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78992" y="5413248"/>
            <a:ext cx="10003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Connection to Trust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5779008"/>
            <a:ext cx="10003536" cy="731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need enough transparency to know when to trust, question, or verify model outputs.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2: Data Quality and Bias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2194560" cy="768096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210312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Category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80360" y="1234440"/>
            <a:ext cx="4297680" cy="768096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280160"/>
            <a:ext cx="42062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Means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78040" y="1234440"/>
            <a:ext cx="4343400" cy="768096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280160"/>
            <a:ext cx="425196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Impact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002536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48256"/>
            <a:ext cx="210312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Cultural Bias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880360" y="2002536"/>
            <a:ext cx="42976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048256"/>
            <a:ext cx="42062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cultural viewpoints appear more often in training data.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7178040" y="2002536"/>
            <a:ext cx="4343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048256"/>
            <a:ext cx="425196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 may over-represent dominant perspectives.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85800" y="2770632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16352"/>
            <a:ext cx="210312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Bias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880360" y="2770632"/>
            <a:ext cx="42976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816352"/>
            <a:ext cx="42062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High-resource languages have more available training examples.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178040" y="2770632"/>
            <a:ext cx="4343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816352"/>
            <a:ext cx="425196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 may be stronger in English than smaller languages.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85800" y="3538728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84448"/>
            <a:ext cx="210312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 Bias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880360" y="3538728"/>
            <a:ext cx="42976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3584448"/>
            <a:ext cx="42062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groups, regions, or professions are underrepresented.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7178040" y="3538728"/>
            <a:ext cx="4343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584448"/>
            <a:ext cx="425196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may reflect stereotypes or incomplete context.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85800" y="4306824"/>
            <a:ext cx="219456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352544"/>
            <a:ext cx="210312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Bias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880360" y="4306824"/>
            <a:ext cx="42976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4352544"/>
            <a:ext cx="420624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data contains internet errors and uneven quality.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178040" y="4306824"/>
            <a:ext cx="434340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4352544"/>
            <a:ext cx="425196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may produce confident but wrong explanations.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868680" y="5394960"/>
            <a:ext cx="10378440" cy="685800"/>
          </a:xfrm>
          <a:prstGeom prst="roundRect">
            <a:avLst>
              <a:gd name="adj" fmla="val 16000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33272" y="5504688"/>
            <a:ext cx="100492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Point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33272" y="5870448"/>
            <a:ext cx="1004925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 must include data awareness. Understanding the output also means asking what information shaped the model.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3: Trustworthiness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344168"/>
            <a:ext cx="3145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Hallucinations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1709928"/>
            <a:ext cx="3145536" cy="7589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may produce plausible but inaccurate information.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1344168"/>
            <a:ext cx="3145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Hidden Uncertainty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53712" y="1709928"/>
            <a:ext cx="3145536" cy="7589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may sound confident even when evidence is weak.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23444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344168"/>
            <a:ext cx="3145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 Pressure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11312" y="1709928"/>
            <a:ext cx="3145536" cy="7589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High-stakes sectors require transparency, auditability, and accountability.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063240"/>
            <a:ext cx="1024128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clear explanation does not automatically mean the answer is correct.
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high-performing model still needs validation before real-world deployment.
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Human oversight matters most when decisions affect safety, money, health, or rights.
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Trustworthy AI requires both performance evidence and understandable communication.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Framework for Trustworthy 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43000"/>
            <a:ext cx="2011680" cy="795528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92024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06040" y="1143000"/>
            <a:ext cx="4297680" cy="795528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188720"/>
            <a:ext cx="420624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Question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03720" y="1143000"/>
            <a:ext cx="4709160" cy="795528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188720"/>
            <a:ext cx="461772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1938528"/>
            <a:ext cx="201168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84248"/>
            <a:ext cx="192024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606040" y="1938528"/>
            <a:ext cx="429768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984248"/>
            <a:ext cx="420624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people understand the output?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903720" y="1938528"/>
            <a:ext cx="470916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984248"/>
            <a:ext cx="461772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model behavior easier to evaluate.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94360" y="2734056"/>
            <a:ext cx="201168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79776"/>
            <a:ext cx="192024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606040" y="2734056"/>
            <a:ext cx="429768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779776"/>
            <a:ext cx="420624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model work on new and difficult cases?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903720" y="2734056"/>
            <a:ext cx="470916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779776"/>
            <a:ext cx="461772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reliability before and after deployment.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94360" y="3529584"/>
            <a:ext cx="201168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75304"/>
            <a:ext cx="192024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Metrics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606040" y="3529584"/>
            <a:ext cx="429768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575304"/>
            <a:ext cx="420624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well does the model perform?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903720" y="3529584"/>
            <a:ext cx="470916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575304"/>
            <a:ext cx="461772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accuracy, precision, recall, and trade-offs.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594360" y="4325112"/>
            <a:ext cx="201168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370832"/>
            <a:ext cx="192024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606040" y="4325112"/>
            <a:ext cx="429768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4370832"/>
            <a:ext cx="420624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accountable for decisions?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903720" y="4325112"/>
            <a:ext cx="4709160" cy="795528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4370832"/>
            <a:ext cx="461772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humans responsible for high-impact outcomes.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868680" y="5440680"/>
            <a:ext cx="10378440" cy="594360"/>
          </a:xfrm>
          <a:prstGeom prst="roundRect">
            <a:avLst>
              <a:gd name="adj" fmla="val 18462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33272" y="5550408"/>
            <a:ext cx="100492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Rationale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33272" y="5916168"/>
            <a:ext cx="10049256" cy="27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categories move from understanding the output, to testing the output, to measuring performance, to deciding how humans should use it.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Approaches to Explainability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1920240" cy="896112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8288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23160" y="1051560"/>
            <a:ext cx="3749040" cy="896112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097280"/>
            <a:ext cx="36576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051560"/>
            <a:ext cx="5532120" cy="896112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97280"/>
            <a:ext cx="54406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Supports Trust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192024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93392"/>
            <a:ext cx="18288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423160" y="1947672"/>
            <a:ext cx="374904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993392"/>
            <a:ext cx="36576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cards, model evaluations, red teaming, safety testing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172200" y="1947672"/>
            <a:ext cx="553212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993392"/>
            <a:ext cx="54406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capabilities, limitations, and safety evaluations.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02920" y="2843784"/>
            <a:ext cx="192024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89504"/>
            <a:ext cx="18288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Anthropic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423160" y="2843784"/>
            <a:ext cx="374904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889504"/>
            <a:ext cx="36576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Constitutional AI, interpretability research, alignment work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172200" y="2843784"/>
            <a:ext cx="553212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889504"/>
            <a:ext cx="54406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principles and research to shape safer model behavior.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02920" y="3739896"/>
            <a:ext cx="192024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85616"/>
            <a:ext cx="18288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/ Gemini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423160" y="3739896"/>
            <a:ext cx="374904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785616"/>
            <a:ext cx="36576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cards, safety evaluations, responsible AI guidance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172200" y="3739896"/>
            <a:ext cx="553212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785616"/>
            <a:ext cx="54406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structured information about model design and evaluation.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502920" y="4636008"/>
            <a:ext cx="192024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81728"/>
            <a:ext cx="18288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/ LLaMA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423160" y="4636008"/>
            <a:ext cx="374904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4681728"/>
            <a:ext cx="365760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model releases, model cards, responsible use guidance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172200" y="4636008"/>
            <a:ext cx="5532120" cy="896112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681728"/>
            <a:ext cx="54406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transparency through documentation and research access.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Techniques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828800"/>
            <a:ext cx="1965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938528"/>
            <a:ext cx="1636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Testing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304288"/>
            <a:ext cx="1636776" cy="1307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model performance on standard tasks.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51760" y="2606040"/>
            <a:ext cx="256032" cy="237744"/>
          </a:xfrm>
          <a:prstGeom prst="rightArrow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828800"/>
            <a:ext cx="1965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90672" y="1938528"/>
            <a:ext cx="1636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Evaluation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90672" y="2304288"/>
            <a:ext cx="1636776" cy="1307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usefulness, safety, clarity, and correctness.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92040" y="2606040"/>
            <a:ext cx="256032" cy="237744"/>
          </a:xfrm>
          <a:prstGeom prst="rightArrow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828800"/>
            <a:ext cx="1965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30952" y="1938528"/>
            <a:ext cx="1636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Teaming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0952" y="2304288"/>
            <a:ext cx="1636776" cy="1307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Stress-test model behavior with risky or adversarial prompts.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32320" y="2606040"/>
            <a:ext cx="256032" cy="237744"/>
          </a:xfrm>
          <a:prstGeom prst="rightArrow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828800"/>
            <a:ext cx="1965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71232" y="1938528"/>
            <a:ext cx="1636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Bias Testing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71232" y="2304288"/>
            <a:ext cx="1636776" cy="1307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outputs differ unfairly across groups or contexts.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72600" y="2606040"/>
            <a:ext cx="256032" cy="237744"/>
          </a:xfrm>
          <a:prstGeom prst="rightArrow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1828800"/>
            <a:ext cx="1965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11512" y="1938528"/>
            <a:ext cx="1636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 Case Testing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11512" y="2304288"/>
            <a:ext cx="1636776" cy="1307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rare, ambiguous, or unexpected inputs.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4892040"/>
            <a:ext cx="10378440" cy="777240"/>
          </a:xfrm>
          <a:prstGeom prst="roundRect">
            <a:avLst>
              <a:gd name="adj" fmla="val 14118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33272" y="5001768"/>
            <a:ext cx="100492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Point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33272" y="5367528"/>
            <a:ext cx="10049256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helps answer: Does the model work beyond the examples it was trained on, and does it behave safely when conditions change?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Metrics and What They Show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43000"/>
            <a:ext cx="1828800" cy="723900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1737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14600" y="1143000"/>
            <a:ext cx="3749040" cy="723900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188720"/>
            <a:ext cx="365760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Measures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257800" cy="723900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188720"/>
            <a:ext cx="5166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1866900"/>
            <a:ext cx="182880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12620"/>
            <a:ext cx="1737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514600" y="1866900"/>
            <a:ext cx="374904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912620"/>
            <a:ext cx="365760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percentage of correct outputs.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263640" y="1866900"/>
            <a:ext cx="525780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912620"/>
            <a:ext cx="5166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baseline, but can hide error trade-offs.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85800" y="2590800"/>
            <a:ext cx="182880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636520"/>
            <a:ext cx="1737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514600" y="2590800"/>
            <a:ext cx="374904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636520"/>
            <a:ext cx="365760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positive predictions are actually correct.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263640" y="2590800"/>
            <a:ext cx="525780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636520"/>
            <a:ext cx="5166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control false positives.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85800" y="3314700"/>
            <a:ext cx="182880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360420"/>
            <a:ext cx="1737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514600" y="3314700"/>
            <a:ext cx="374904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360420"/>
            <a:ext cx="365760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true positives are successfully found.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263640" y="3314700"/>
            <a:ext cx="525780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360420"/>
            <a:ext cx="5166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reduce false negatives.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85800" y="4038600"/>
            <a:ext cx="182880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084320"/>
            <a:ext cx="1737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Score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514600" y="4038600"/>
            <a:ext cx="374904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4084320"/>
            <a:ext cx="365760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between precision and recall.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263640" y="4038600"/>
            <a:ext cx="525780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084320"/>
            <a:ext cx="5166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both error types matter.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685800" y="4762500"/>
            <a:ext cx="182880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808220"/>
            <a:ext cx="1737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Preference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2514600" y="4762500"/>
            <a:ext cx="374904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4808220"/>
            <a:ext cx="365760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output people judge as better or safer.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263640" y="4762500"/>
            <a:ext cx="5257800" cy="723900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808220"/>
            <a:ext cx="5166360" cy="6324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for generative AI quality and alignment.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Explainability, Validation, and Metrics Work Together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4300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252728"/>
            <a:ext cx="2414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1618488"/>
            <a:ext cx="2414016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people understand what the model produced and why it may matter.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1252728"/>
            <a:ext cx="2414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3752" y="1618488"/>
            <a:ext cx="2414016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whether the model performs reliably across conditions.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732520" y="114300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97112" y="1252728"/>
            <a:ext cx="2414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97112" y="1618488"/>
            <a:ext cx="2414016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Quantifies performance and error trade-offs.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828800" y="2560320"/>
            <a:ext cx="457200" cy="685800"/>
          </a:xfrm>
          <a:prstGeom prst="downArrow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560320"/>
            <a:ext cx="457200" cy="685800"/>
          </a:xfrm>
          <a:prstGeom prst="downArrow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2560320"/>
            <a:ext cx="457200" cy="685800"/>
          </a:xfrm>
          <a:prstGeom prst="downArrow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3657600"/>
            <a:ext cx="8138160" cy="1325880"/>
          </a:xfrm>
          <a:prstGeom prst="roundRect">
            <a:avLst>
              <a:gd name="adj" fmla="val 8276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76272" y="3767328"/>
            <a:ext cx="78089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Trustworthy 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76272" y="4133088"/>
            <a:ext cx="7808976" cy="7589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systems require explanations people can understand, validation evidence they can review, and metrics that show performance clearly.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Metacognitive Reflection: What I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430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252728"/>
            <a:ext cx="3099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surprised 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1618488"/>
            <a:ext cx="3099816" cy="3730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initially thought explainability mostly meant explaining the final answer. This assignment helped me see that trust also depends on validation, bias testing, metrics, and human oversight.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1430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1252728"/>
            <a:ext cx="3099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confused 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53712" y="1618488"/>
            <a:ext cx="3099816" cy="3730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hardest part was separating explainability from validation. They are related, but not the same: explainability helps people understand outputs, while validation tests whether outputs are reliable.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92440" y="11430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57032" y="1252728"/>
            <a:ext cx="3099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would try next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57032" y="1618488"/>
            <a:ext cx="3099816" cy="3730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would explore how explainability tools can be applied in safety analytics, especially when a model flags a risk that business users need to understand before acting.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Artifact Value Proposition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234440"/>
            <a:ext cx="10744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4CCC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344168"/>
            <a:ext cx="10415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Artifact-Specific Value Proposition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832" y="1709928"/>
            <a:ext cx="10415016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artifact helps students, instructors, and early AI learners understand how explainability, validation, and metrics work together to support trustworthy AI systems.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2743200" cy="466344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88920"/>
            <a:ext cx="265176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Area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2743200"/>
            <a:ext cx="7635240" cy="466344"/>
          </a:xfrm>
          <a:prstGeom prst="rect">
            <a:avLst/>
          </a:prstGeom>
          <a:solidFill>
            <a:srgbClr val="8B0000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788920"/>
            <a:ext cx="754380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209544"/>
            <a:ext cx="274320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55264"/>
            <a:ext cx="265176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3611880" y="3209544"/>
            <a:ext cx="763524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255264"/>
            <a:ext cx="754380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 students, instructors, business users, and beginner AI learners.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68680" y="3675888"/>
            <a:ext cx="274320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21608"/>
            <a:ext cx="265176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3611880" y="3675888"/>
            <a:ext cx="763524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721608"/>
            <a:ext cx="754380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explanation of XAI concepts, industry approaches, and trust-building methods.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68680" y="4142232"/>
            <a:ext cx="274320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87952"/>
            <a:ext cx="265176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Demonstrated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3611880" y="4142232"/>
            <a:ext cx="763524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4187952"/>
            <a:ext cx="754380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communication, classification, AI governance awareness, and visual learning design.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868680" y="4608576"/>
            <a:ext cx="274320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654296"/>
            <a:ext cx="265176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Relevance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3611880" y="4608576"/>
            <a:ext cx="7635240" cy="466344"/>
          </a:xfrm>
          <a:prstGeom prst="rect">
            <a:avLst/>
          </a:prstGeom>
          <a:solidFill>
            <a:srgbClr val="FFFFFF"/>
          </a:solidFill>
          <a:ln w="7620">
            <a:solidFill>
              <a:srgbClr val="F4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4654296"/>
            <a:ext cx="7543800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AI transparency to real-world decision-making and stakeholder trust.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11338560" cy="0"/>
          </a:xfrm>
          <a:prstGeom prst="line">
            <a:avLst/>
          </a:prstGeom>
          <a:noFill/>
          <a:ln w="15240">
            <a:solidFill>
              <a:srgbClr val="F4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972800" cy="4526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Anthropic. (n.d.). Claude’s Constitution. https://www.anthropic.com/constitution
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Anthropic. (n.d.). Research: Interpretability and alignment. https://www.anthropic.com/research
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Google DeepMind. (n.d.). Model cards. https://deepmind.google/models/model-cards/
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Google AI for Developers. (2024). Evaluate model and system for safety. https://ai.google.dev/responsible/docs/evaluation
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Meta. (2024). Llama 3.1 model card. https://github.com/meta-llama/llama-models
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OpenAI. (2024). GPT-4o system card. https://openai.com/index/gpt-4o-system-card/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4739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AIML-501 | Explainable AI | Benita Chinemerem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Indiana Wesleyan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AI: Building Trust in Large Language Models</dc:title>
  <dc:subject>AIML-501 Portfolio Artifact</dc:subject>
  <dc:creator>Benita Chinemerem</dc:creator>
  <cp:lastModifiedBy>Benita Chinemerem</cp:lastModifiedBy>
  <cp:revision>1</cp:revision>
  <dcterms:created xsi:type="dcterms:W3CDTF">2026-06-07T23:24:32Z</dcterms:created>
  <dcterms:modified xsi:type="dcterms:W3CDTF">2026-06-07T23:24:32Z</dcterms:modified>
</cp:coreProperties>
</file>