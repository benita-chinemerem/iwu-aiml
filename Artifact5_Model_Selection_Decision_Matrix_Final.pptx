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0120" y="1051560"/>
            <a:ext cx="10287000" cy="64008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rPr sz="2400" b="1">
                <a:solidFill>
                  <a:srgbClr val="FFFFFF"/>
                </a:solidFill>
              </a:rPr>
              <a:t>AI Model Selection Decision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50477" y="1874519"/>
            <a:ext cx="7506286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1320" b="1">
                <a:solidFill>
                  <a:srgbClr val="8B0000"/>
                </a:solidFill>
                <a:latin typeface="Arial"/>
              </a:defRPr>
            </a:pPr>
            <a:r>
              <a:rPr sz="1800">
                <a:solidFill>
                  <a:srgbClr val="232323"/>
                </a:solidFill>
              </a:rPr>
              <a:t>Balancing Size, Accuracy, Speed, and Explainability Across AI Domains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3907" y="3886200"/>
            <a:ext cx="4633705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750" b="0">
                <a:solidFill>
                  <a:srgbClr val="8B0000"/>
                </a:solidFill>
                <a:latin typeface="Arial"/>
              </a:defRPr>
            </a:pPr>
            <a:r>
              <a:rPr sz="1000">
                <a:solidFill>
                  <a:srgbClr val="232323"/>
                </a:solidFill>
              </a:rPr>
              <a:t>Benita Chinemerem  |  AIML-501  |  Portfolio Artifact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31620" y="4507946"/>
            <a:ext cx="914400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400" b="1">
                <a:solidFill>
                  <a:srgbClr val="FFFFFF"/>
                </a:solidFill>
              </a:rPr>
              <a:t>Artifact Purpose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5001768"/>
            <a:ext cx="8869680" cy="566928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650" b="0">
                <a:solidFill>
                  <a:srgbClr val="222222"/>
                </a:solidFill>
                <a:latin typeface="Arial"/>
              </a:defRPr>
            </a:pPr>
            <a:r>
              <a:rPr sz="1300">
                <a:solidFill>
                  <a:srgbClr val="232323"/>
                </a:solidFill>
              </a:rPr>
              <a:t>A professional portfolio presentation that compares pre-trained models across NLP/Generative AI, Computer Vision, and Tabular Data using a decision matrix for practical model selection.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2000" b="1">
                <a:solidFill>
                  <a:srgbClr val="FFFFFF"/>
                </a:solidFill>
              </a:rPr>
              <a:t>Purpose of This Artifact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10835640" cy="50292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50" b="0">
                <a:solidFill>
                  <a:srgbClr val="222222"/>
                </a:solidFill>
                <a:latin typeface="Arial"/>
              </a:defRPr>
            </a:pPr>
            <a:r>
              <a:rPr sz="1300">
                <a:solidFill>
                  <a:srgbClr val="232323"/>
                </a:solidFill>
              </a:rPr>
              <a:t>This presentation organizes popular AI models into domains and compares their trade-offs using a clear decision-matrix format.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1083564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300" b="1">
                <a:solidFill>
                  <a:srgbClr val="FFFFFF"/>
                </a:solidFill>
              </a:rPr>
              <a:t>Portfolio Artifact Goal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84831"/>
            <a:ext cx="10561320" cy="676656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000" b="0">
                <a:solidFill>
                  <a:srgbClr val="222222"/>
                </a:solidFill>
                <a:latin typeface="Arial"/>
              </a:defRPr>
            </a:pPr>
            <a:r>
              <a:rPr sz="1300">
                <a:solidFill>
                  <a:srgbClr val="232323"/>
                </a:solidFill>
              </a:rPr>
              <a:t>This artifact helps students and early AI practitioners choose models based on the problem type, not just model popularity.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63240"/>
            <a:ext cx="7436972" cy="126957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1230">
                <a:solidFill>
                  <a:srgbClr val="222222"/>
                </a:solidFill>
                <a:latin typeface="Arial"/>
              </a:defRPr>
            </a:pPr>
            <a:r>
              <a:rPr sz="1200">
                <a:solidFill>
                  <a:srgbClr val="232323"/>
                </a:solidFill>
              </a:rPr>
              <a:t>Classifies models across NLP/Generative AI, Computer Vision, and Tabular Data.</a:t>
            </a:r>
          </a:p>
          <a:p>
            <a:r>
              <a:rPr sz="1200">
                <a:solidFill>
                  <a:srgbClr val="232323"/>
                </a:solidFill>
              </a:rPr>
              <a:t>Compares trade-offs between size, accuracy, inference speed, and explainability.</a:t>
            </a:r>
          </a:p>
          <a:p>
            <a:r>
              <a:rPr sz="1200">
                <a:solidFill>
                  <a:srgbClr val="232323"/>
                </a:solidFill>
              </a:rPr>
              <a:t>Shows why the most accurate model is not always the best model for deployment.</a:t>
            </a:r>
          </a:p>
          <a:p>
            <a:r>
              <a:rPr sz="1200">
                <a:solidFill>
                  <a:srgbClr val="232323"/>
                </a:solidFill>
              </a:rPr>
              <a:t>Connects model choice to practical use cases and business constraints.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456687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900">
                <a:solidFill>
                  <a:srgbClr val="232323"/>
                </a:solidFill>
              </a:rPr>
              <a:t>AIML-501 | Model Selection Matrix | Benita Chinemerem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93302" y="6473952"/>
            <a:ext cx="256738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900">
                <a:solidFill>
                  <a:srgbClr val="232323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2000" b="1">
                <a:solidFill>
                  <a:srgbClr val="FFFFFF"/>
                </a:solidFill>
              </a:rPr>
              <a:t>Why Model Selection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173" y="1143000"/>
            <a:ext cx="12000336" cy="243143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1050" b="0">
                <a:solidFill>
                  <a:srgbClr val="222222"/>
                </a:solidFill>
                <a:latin typeface="Arial"/>
              </a:defRPr>
            </a:pPr>
            <a:r>
              <a:rPr sz="1200">
                <a:solidFill>
                  <a:srgbClr val="232323"/>
                </a:solidFill>
              </a:rPr>
              <a:t>Modern AI teams rarely select models based only on accuracy. A model must also fit the domain, infrastructure, speed requirements, and explainability needs of the use case.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38528"/>
            <a:ext cx="1074420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300" b="1">
                <a:solidFill>
                  <a:srgbClr val="FFFFFF"/>
                </a:solidFill>
              </a:rPr>
              <a:t>Simple Definition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50008"/>
            <a:ext cx="10469880" cy="749808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000" b="0">
                <a:solidFill>
                  <a:srgbClr val="222222"/>
                </a:solidFill>
                <a:latin typeface="Arial"/>
              </a:defRPr>
            </a:pPr>
            <a:r>
              <a:rPr sz="1300">
                <a:solidFill>
                  <a:srgbClr val="232323"/>
                </a:solidFill>
              </a:rPr>
              <a:t>Model selection is the process of choosing the AI model that best balances performance, cost, speed, and trust for a specific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0"/>
            <a:ext cx="1446165" cy="243143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1080" b="1">
                <a:solidFill>
                  <a:srgbClr val="8B0000"/>
                </a:solidFill>
                <a:latin typeface="Arial"/>
              </a:defRPr>
            </a:pPr>
            <a:r>
              <a:rPr sz="1100" b="1">
                <a:solidFill>
                  <a:srgbClr val="780000"/>
                </a:solidFill>
              </a:rPr>
              <a:t>Common model-selection tasks: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023360"/>
            <a:ext cx="1552669" cy="1195199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969">
                <a:solidFill>
                  <a:srgbClr val="222222"/>
                </a:solidFill>
                <a:latin typeface="Arial"/>
              </a:defRPr>
            </a:pPr>
            <a:r>
              <a:rPr sz="1100">
                <a:solidFill>
                  <a:srgbClr val="232323"/>
                </a:solidFill>
              </a:rPr>
              <a:t>Text generation</a:t>
            </a:r>
          </a:p>
          <a:p>
            <a:r>
              <a:rPr sz="1100">
                <a:solidFill>
                  <a:srgbClr val="232323"/>
                </a:solidFill>
              </a:rPr>
              <a:t>Text classification</a:t>
            </a:r>
          </a:p>
          <a:p>
            <a:r>
              <a:rPr sz="1100">
                <a:solidFill>
                  <a:srgbClr val="232323"/>
                </a:solidFill>
              </a:rPr>
              <a:t>Image classification</a:t>
            </a:r>
          </a:p>
          <a:p>
            <a:r>
              <a:rPr sz="1100">
                <a:solidFill>
                  <a:srgbClr val="232323"/>
                </a:solidFill>
              </a:rPr>
              <a:t>Mobile vision</a:t>
            </a:r>
          </a:p>
          <a:p>
            <a:r>
              <a:rPr sz="1100">
                <a:solidFill>
                  <a:srgbClr val="232323"/>
                </a:solidFill>
              </a:rPr>
              <a:t>Business risk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657600"/>
            <a:ext cx="1333955" cy="243143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1080" b="1">
                <a:solidFill>
                  <a:srgbClr val="8B0000"/>
                </a:solidFill>
                <a:latin typeface="Arial"/>
              </a:defRPr>
            </a:pPr>
            <a:r>
              <a:rPr sz="1100" b="1">
                <a:solidFill>
                  <a:srgbClr val="780000"/>
                </a:solidFill>
              </a:rPr>
              <a:t>Main trade-off drivers: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4023360"/>
            <a:ext cx="2241960" cy="1195199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969">
                <a:solidFill>
                  <a:srgbClr val="222222"/>
                </a:solidFill>
                <a:latin typeface="Arial"/>
              </a:defRPr>
            </a:pPr>
            <a:r>
              <a:rPr sz="1100">
                <a:solidFill>
                  <a:srgbClr val="232323"/>
                </a:solidFill>
              </a:rPr>
              <a:t>Model size and memory</a:t>
            </a:r>
          </a:p>
          <a:p>
            <a:r>
              <a:rPr sz="1100">
                <a:solidFill>
                  <a:srgbClr val="232323"/>
                </a:solidFill>
              </a:rPr>
              <a:t>Benchmark accuracy</a:t>
            </a:r>
          </a:p>
          <a:p>
            <a:r>
              <a:rPr sz="1100">
                <a:solidFill>
                  <a:srgbClr val="232323"/>
                </a:solidFill>
              </a:rPr>
              <a:t>Inference speed</a:t>
            </a:r>
          </a:p>
          <a:p>
            <a:r>
              <a:rPr sz="1100">
                <a:solidFill>
                  <a:srgbClr val="232323"/>
                </a:solidFill>
              </a:rPr>
              <a:t>Deployment cost</a:t>
            </a:r>
          </a:p>
          <a:p>
            <a:r>
              <a:rPr sz="1100">
                <a:solidFill>
                  <a:srgbClr val="232323"/>
                </a:solidFill>
              </a:rPr>
              <a:t>Explainability and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3812197" cy="243143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900">
                <a:solidFill>
                  <a:srgbClr val="232323"/>
                </a:solidFill>
              </a:rPr>
              <a:t>AIML-501 | Model Selection Matrix | Benita Chinemerem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6966" y="6473952"/>
            <a:ext cx="223074" cy="243143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900">
                <a:solidFill>
                  <a:srgbClr val="232323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2000" b="1">
                <a:solidFill>
                  <a:srgbClr val="FFFFFF"/>
                </a:solidFill>
              </a:rPr>
              <a:t>Overall AI Model Selection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920240"/>
            <a:ext cx="1417320" cy="77724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50" b="1">
                <a:solidFill>
                  <a:srgbClr val="8B0000"/>
                </a:solidFill>
                <a:latin typeface="Arial"/>
              </a:defRPr>
            </a:pPr>
            <a:r>
              <a:rPr sz="1100" b="1">
                <a:solidFill>
                  <a:srgbClr val="FFFFFF"/>
                </a:solidFill>
              </a:rPr>
              <a:t>Business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Need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920240"/>
            <a:ext cx="1417320" cy="77724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50" b="1">
                <a:solidFill>
                  <a:srgbClr val="8B0000"/>
                </a:solidFill>
                <a:latin typeface="Arial"/>
              </a:defRPr>
            </a:pPr>
            <a:r>
              <a:rPr sz="1100" b="1">
                <a:solidFill>
                  <a:srgbClr val="FFFFFF"/>
                </a:solidFill>
              </a:rPr>
              <a:t>AI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83480" y="1920240"/>
            <a:ext cx="1417320" cy="77724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50" b="1">
                <a:solidFill>
                  <a:srgbClr val="8B0000"/>
                </a:solidFill>
                <a:latin typeface="Arial"/>
              </a:defRPr>
            </a:pPr>
            <a:r>
              <a:rPr sz="1100" b="1">
                <a:solidFill>
                  <a:srgbClr val="FFFFFF"/>
                </a:solidFill>
              </a:rPr>
              <a:t>Candidate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920240"/>
            <a:ext cx="1417320" cy="77724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50" b="1">
                <a:solidFill>
                  <a:srgbClr val="8B0000"/>
                </a:solidFill>
                <a:latin typeface="Arial"/>
              </a:defRPr>
            </a:pPr>
            <a:r>
              <a:rPr sz="1100" b="1">
                <a:solidFill>
                  <a:srgbClr val="FFFFFF"/>
                </a:solidFill>
              </a:rPr>
              <a:t>Trade-Off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38360" y="1920240"/>
            <a:ext cx="1417320" cy="77724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50" b="1">
                <a:solidFill>
                  <a:srgbClr val="8B0000"/>
                </a:solidFill>
                <a:latin typeface="Arial"/>
              </a:defRPr>
            </a:pPr>
            <a:r>
              <a:rPr sz="1100" b="1">
                <a:solidFill>
                  <a:srgbClr val="FFFFFF"/>
                </a:solidFill>
              </a:rPr>
              <a:t>Final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Choice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304288"/>
            <a:ext cx="548640" cy="0"/>
          </a:xfrm>
          <a:prstGeom prst="line">
            <a:avLst/>
          </a:prstGeom>
          <a:ln w="15875">
            <a:solidFill>
              <a:srgbClr val="8B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60520" y="2304288"/>
            <a:ext cx="822960" cy="0"/>
          </a:xfrm>
          <a:prstGeom prst="line">
            <a:avLst/>
          </a:prstGeom>
          <a:ln w="15875">
            <a:solidFill>
              <a:srgbClr val="8B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2304288"/>
            <a:ext cx="1005840" cy="0"/>
          </a:xfrm>
          <a:prstGeom prst="line">
            <a:avLst/>
          </a:prstGeom>
          <a:ln w="15875">
            <a:solidFill>
              <a:srgbClr val="8B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23960" y="2304288"/>
            <a:ext cx="914400" cy="0"/>
          </a:xfrm>
          <a:prstGeom prst="line">
            <a:avLst/>
          </a:prstGeom>
          <a:ln w="15875">
            <a:solidFill>
              <a:srgbClr val="8B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22960" y="365760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960120" y="3822191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97280" y="398678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66514" y="4315968"/>
            <a:ext cx="518733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730" b="0">
                <a:solidFill>
                  <a:srgbClr val="5A5A5A"/>
                </a:solidFill>
                <a:latin typeface="Arial"/>
              </a:defRPr>
            </a:pPr>
            <a:r>
              <a:rPr sz="1000" b="1">
                <a:solidFill>
                  <a:srgbClr val="780000"/>
                </a:solidFill>
              </a:rPr>
              <a:t>NLP / GenAI</a:t>
            </a:r>
          </a:p>
        </p:txBody>
      </p:sp>
      <p:sp>
        <p:nvSpPr>
          <p:cNvPr id="16" name="Oval 15"/>
          <p:cNvSpPr/>
          <p:nvPr/>
        </p:nvSpPr>
        <p:spPr>
          <a:xfrm>
            <a:off x="2834640" y="365760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2971800" y="3822191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108960" y="398678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97856" y="4315968"/>
            <a:ext cx="879408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730" b="0">
                <a:solidFill>
                  <a:srgbClr val="5A5A5A"/>
                </a:solidFill>
                <a:latin typeface="Arial"/>
              </a:defRPr>
            </a:pPr>
            <a:r>
              <a:rPr sz="1000" b="1">
                <a:solidFill>
                  <a:srgbClr val="780000"/>
                </a:solidFill>
              </a:rPr>
              <a:t>Vision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365760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212080" y="3822191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349240" y="398678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44191" y="4315968"/>
            <a:ext cx="667299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730" b="0">
                <a:solidFill>
                  <a:srgbClr val="5A5A5A"/>
                </a:solidFill>
                <a:latin typeface="Arial"/>
              </a:defRPr>
            </a:pPr>
            <a:r>
              <a:rPr sz="1000" b="1">
                <a:solidFill>
                  <a:srgbClr val="780000"/>
                </a:solidFill>
              </a:rPr>
              <a:t>Tabular</a:t>
            </a:r>
          </a:p>
        </p:txBody>
      </p:sp>
      <p:sp>
        <p:nvSpPr>
          <p:cNvPr id="24" name="Oval 23"/>
          <p:cNvSpPr/>
          <p:nvPr/>
        </p:nvSpPr>
        <p:spPr>
          <a:xfrm>
            <a:off x="7543800" y="365760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7680960" y="3822191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818120" y="398678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83699" y="4315968"/>
            <a:ext cx="526042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730" b="0">
                <a:solidFill>
                  <a:srgbClr val="5A5A5A"/>
                </a:solidFill>
                <a:latin typeface="Arial"/>
              </a:defRPr>
            </a:pPr>
            <a:r>
              <a:rPr sz="1000" b="1">
                <a:solidFill>
                  <a:srgbClr val="780000"/>
                </a:solidFill>
              </a:rPr>
              <a:t>Criteria</a:t>
            </a:r>
          </a:p>
        </p:txBody>
      </p:sp>
      <p:sp>
        <p:nvSpPr>
          <p:cNvPr id="28" name="Oval 27"/>
          <p:cNvSpPr/>
          <p:nvPr/>
        </p:nvSpPr>
        <p:spPr>
          <a:xfrm>
            <a:off x="9829800" y="365760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9966960" y="3822191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0104120" y="398678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ptos" panose="020B00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877692" y="4315968"/>
            <a:ext cx="910057" cy="504754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730" b="0">
                <a:solidFill>
                  <a:srgbClr val="5A5A5A"/>
                </a:solidFill>
                <a:latin typeface="Arial"/>
              </a:defRPr>
            </a:pPr>
            <a:r>
              <a:rPr sz="1000" b="1">
                <a:solidFill>
                  <a:srgbClr val="780000"/>
                </a:solidFill>
              </a:rPr>
              <a:t>Recommendation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755" y="5166360"/>
            <a:ext cx="1927131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640" b="0">
                <a:solidFill>
                  <a:srgbClr val="5A5A5A"/>
                </a:solidFill>
                <a:latin typeface="Arial"/>
              </a:defRPr>
            </a:pPr>
            <a:r>
              <a:rPr sz="800">
                <a:solidFill>
                  <a:srgbClr val="232323"/>
                </a:solidFill>
              </a:rPr>
              <a:t>Define the use case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8073" y="5166360"/>
            <a:ext cx="2013693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640" b="0">
                <a:solidFill>
                  <a:srgbClr val="5A5A5A"/>
                </a:solidFill>
                <a:latin typeface="Arial"/>
              </a:defRPr>
            </a:pPr>
            <a:r>
              <a:rPr sz="800">
                <a:solidFill>
                  <a:srgbClr val="232323"/>
                </a:solidFill>
              </a:rPr>
              <a:t>Compare trade-offs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3476" y="5166360"/>
            <a:ext cx="1652248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640" b="0">
                <a:solidFill>
                  <a:srgbClr val="5A5A5A"/>
                </a:solidFill>
                <a:latin typeface="Arial"/>
              </a:defRPr>
            </a:pPr>
            <a:r>
              <a:rPr sz="800">
                <a:solidFill>
                  <a:srgbClr val="232323"/>
                </a:solidFill>
              </a:rPr>
              <a:t>Check explainability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8645" y="5166360"/>
            <a:ext cx="2036711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640" b="0">
                <a:solidFill>
                  <a:srgbClr val="5A5A5A"/>
                </a:solidFill>
                <a:latin typeface="Arial"/>
              </a:defRPr>
            </a:pPr>
            <a:r>
              <a:rPr sz="800">
                <a:solidFill>
                  <a:srgbClr val="232323"/>
                </a:solidFill>
              </a:rPr>
              <a:t>Select for deployment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4800801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900">
                <a:solidFill>
                  <a:srgbClr val="232323"/>
                </a:solidFill>
              </a:rPr>
              <a:t>AIML-501 | Model Selection Matrix | Benita Chinemerem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06126" y="6473952"/>
            <a:ext cx="243914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900">
                <a:solidFill>
                  <a:srgbClr val="232323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800" b="1">
                <a:solidFill>
                  <a:srgbClr val="FFFFFF"/>
                </a:solidFill>
              </a:rPr>
              <a:t>Component 1: Evaluation Criteria for Model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8263544" cy="11464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1130">
                <a:solidFill>
                  <a:srgbClr val="222222"/>
                </a:solidFill>
                <a:latin typeface="Arial"/>
              </a:defRPr>
            </a:pPr>
            <a:r>
              <a:rPr sz="1200">
                <a:solidFill>
                  <a:srgbClr val="232323"/>
                </a:solidFill>
              </a:rPr>
              <a:t>Pre-trained models can be compared using four practical criteria: model size, accuracy, inference speed, and explainability. These criteria affect cost, usability, deployment, and stakeholder trust.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37960" y="2280543"/>
            <a:ext cx="484632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300" b="1">
                <a:solidFill>
                  <a:srgbClr val="FFFFFF"/>
                </a:solidFill>
              </a:rPr>
              <a:t>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74830" y="2734056"/>
            <a:ext cx="4572000" cy="1216152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940" b="0">
                <a:solidFill>
                  <a:srgbClr val="222222"/>
                </a:solidFill>
                <a:latin typeface="Arial"/>
              </a:defRPr>
            </a:pPr>
            <a:r>
              <a:rPr sz="1200">
                <a:solidFill>
                  <a:srgbClr val="232323"/>
                </a:solidFill>
              </a:rPr>
              <a:t>GPT-4 may provide stronger generation capability, but BERT may be faster and easier to deploy for enterprise text classification.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4268478"/>
            <a:ext cx="484632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300" b="1">
                <a:solidFill>
                  <a:srgbClr val="FFFFFF"/>
                </a:solidFill>
              </a:rPr>
              <a:t>Key 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4994492"/>
            <a:ext cx="4572000" cy="96012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940" b="0">
                <a:solidFill>
                  <a:srgbClr val="222222"/>
                </a:solidFill>
                <a:latin typeface="Arial"/>
              </a:defRPr>
            </a:pPr>
            <a:r>
              <a:rPr sz="1200">
                <a:solidFill>
                  <a:srgbClr val="232323"/>
                </a:solidFill>
              </a:rPr>
              <a:t>The best model is not always the largest model. The best model is the one that fits the domain, constraints, and decision risk.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800801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900">
                <a:solidFill>
                  <a:srgbClr val="232323"/>
                </a:solidFill>
              </a:rPr>
              <a:t>AIML-501 | Model Selection Matrix | Benita Chinemerem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06126" y="6473952"/>
            <a:ext cx="243914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900">
                <a:solidFill>
                  <a:srgbClr val="232323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800" b="1">
                <a:solidFill>
                  <a:srgbClr val="FFFFFF"/>
                </a:solidFill>
              </a:rPr>
              <a:t>Component 2: Size, Accuracy, Speed, and Explainability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005840"/>
            <a:ext cx="10835640" cy="658368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000" b="0">
                <a:solidFill>
                  <a:srgbClr val="222222"/>
                </a:solidFill>
                <a:latin typeface="Arial"/>
              </a:defRPr>
            </a:pPr>
            <a:r>
              <a:rPr sz="1200">
                <a:solidFill>
                  <a:srgbClr val="232323"/>
                </a:solidFill>
              </a:rPr>
              <a:t>Each criterion answers a different deployment question. Together, they create a practical model-selection framework.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2057400"/>
            <a:ext cx="8412480" cy="1051560"/>
          </a:xfrm>
          <a:prstGeom prst="roundRect">
            <a:avLst/>
          </a:prstGeom>
          <a:solidFill>
            <a:srgbClr val="FFF7F7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600" b="1">
                <a:solidFill>
                  <a:srgbClr val="8B0000"/>
                </a:solidFill>
                <a:latin typeface="Arial"/>
              </a:defRPr>
            </a:pPr>
            <a:r>
              <a:rPr sz="1300" b="1">
                <a:solidFill>
                  <a:srgbClr val="780000"/>
                </a:solidFill>
              </a:rPr>
              <a:t>use case → domain → candidate models → trade-off scores →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749039"/>
            <a:ext cx="8451609" cy="959237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rPr sz="1200">
                <a:solidFill>
                  <a:srgbClr val="232323"/>
                </a:solidFill>
              </a:rPr>
              <a:t>Size affects memory, energy, and deployment cost.</a:t>
            </a:r>
          </a:p>
          <a:p>
            <a:r>
              <a:rPr sz="1200">
                <a:solidFill>
                  <a:srgbClr val="232323"/>
                </a:solidFill>
              </a:rPr>
              <a:t>Accuracy affects prediction quality and business value.</a:t>
            </a:r>
          </a:p>
          <a:p>
            <a:r>
              <a:rPr sz="1200">
                <a:solidFill>
                  <a:srgbClr val="232323"/>
                </a:solidFill>
              </a:rPr>
              <a:t>Speed affects user experience and real-time feasibility.</a:t>
            </a:r>
          </a:p>
          <a:p>
            <a:r>
              <a:rPr sz="1200">
                <a:solidFill>
                  <a:srgbClr val="232323"/>
                </a:solidFill>
              </a:rPr>
              <a:t>Explainability affects trust, governance, and adoption.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5456687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900">
                <a:solidFill>
                  <a:srgbClr val="232323"/>
                </a:solidFill>
              </a:rPr>
              <a:t>AIML-501 | Model Selection Matrix | Benita Chinemerem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93302" y="6473952"/>
            <a:ext cx="256738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900">
                <a:solidFill>
                  <a:srgbClr val="232323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800" b="1">
                <a:solidFill>
                  <a:srgbClr val="FFFFFF"/>
                </a:solidFill>
              </a:rPr>
              <a:t>Component 3: Model Domains and Typical Use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1083564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300" b="1">
                <a:solidFill>
                  <a:srgbClr val="FFFFFF"/>
                </a:solidFill>
              </a:rPr>
              <a:t>Definition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61320" cy="566928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950" b="0">
                <a:solidFill>
                  <a:srgbClr val="222222"/>
                </a:solidFill>
                <a:latin typeface="Arial"/>
              </a:defRPr>
            </a:pPr>
            <a:r>
              <a:rPr sz="1200">
                <a:solidFill>
                  <a:srgbClr val="232323"/>
                </a:solidFill>
              </a:rPr>
              <a:t>Different AI domains require different model families. NLP models process language, vision models process images, and tabular models work best on structured rows-and-columns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8174097" cy="959237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22222"/>
                </a:solidFill>
                <a:latin typeface="Arial"/>
              </a:defRPr>
            </a:pPr>
            <a:r>
              <a:rPr sz="1200">
                <a:solidFill>
                  <a:srgbClr val="232323"/>
                </a:solidFill>
              </a:rPr>
              <a:t>NLP / Generative AI: GPT-4 for content generation; BERT for text classification.</a:t>
            </a:r>
          </a:p>
          <a:p>
            <a:r>
              <a:rPr sz="1200">
                <a:solidFill>
                  <a:srgbClr val="232323"/>
                </a:solidFill>
              </a:rPr>
              <a:t>Computer Vision: EfficientNet for high-accuracy image tasks; MobileNet for mobile and edge devices.</a:t>
            </a:r>
          </a:p>
          <a:p>
            <a:r>
              <a:rPr sz="1200">
                <a:solidFill>
                  <a:srgbClr val="232323"/>
                </a:solidFill>
              </a:rPr>
              <a:t>Tabular Data: XGBoost and LightGBM for structured business, risk, and analytics problems.</a:t>
            </a:r>
          </a:p>
          <a:p/>
          <a:p>
            <a:r>
              <a:rPr sz="1200">
                <a:solidFill>
                  <a:srgbClr val="232323"/>
                </a:solidFill>
              </a:rPr>
              <a:t>This classification reveals that model choice should start with the data type and business goal.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977639"/>
            <a:ext cx="4846320" cy="82296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50" b="0">
                <a:solidFill>
                  <a:srgbClr val="222222"/>
                </a:solidFill>
                <a:latin typeface="Arial"/>
              </a:defRPr>
            </a:pPr>
            <a:r>
              <a:rPr sz="1100">
                <a:solidFill>
                  <a:srgbClr val="232323"/>
                </a:solidFill>
              </a:rPr>
              <a:t>A model that performs well in one domain may be a poor fit in another domain. Model selection begins with matching the model family to the data type.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73952"/>
            <a:ext cx="5456687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900">
                <a:solidFill>
                  <a:srgbClr val="232323"/>
                </a:solidFill>
              </a:rPr>
              <a:t>AIML-501 | Model Selection Matrix | Benita Chinemerem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93302" y="6473952"/>
            <a:ext cx="256738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900">
                <a:solidFill>
                  <a:srgbClr val="232323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800" b="1">
                <a:solidFill>
                  <a:srgbClr val="FFFFFF"/>
                </a:solidFill>
              </a:rPr>
              <a:t>Component 4: Pre-Trained Model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5456687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900">
                <a:solidFill>
                  <a:srgbClr val="232323"/>
                </a:solidFill>
              </a:rPr>
              <a:t>AIML-501 | Model Selection Matrix | Benita Chinemerem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93302" y="6473952"/>
            <a:ext cx="256738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900">
                <a:solidFill>
                  <a:srgbClr val="232323"/>
                </a:solidFill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43000"/>
          <a:ext cx="845820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314"/>
                <a:gridCol w="1208314"/>
                <a:gridCol w="1208314"/>
                <a:gridCol w="1208314"/>
                <a:gridCol w="1208314"/>
                <a:gridCol w="1208314"/>
                <a:gridCol w="1208316"/>
              </a:tblGrid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45720" marR="45720" marT="27432" marB="27432">
                    <a:solidFill>
                      <a:srgbClr val="7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Domain</a:t>
                      </a:r>
                    </a:p>
                  </a:txBody>
                  <a:tcPr marL="45720" marR="45720" marT="27432" marB="27432">
                    <a:solidFill>
                      <a:srgbClr val="7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Size</a:t>
                      </a:r>
                    </a:p>
                  </a:txBody>
                  <a:tcPr marL="45720" marR="45720" marT="27432" marB="27432">
                    <a:solidFill>
                      <a:srgbClr val="7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marL="45720" marR="45720" marT="27432" marB="27432">
                    <a:solidFill>
                      <a:srgbClr val="7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Speed</a:t>
                      </a:r>
                    </a:p>
                  </a:txBody>
                  <a:tcPr marL="45720" marR="45720" marT="27432" marB="27432">
                    <a:solidFill>
                      <a:srgbClr val="7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Explainability</a:t>
                      </a:r>
                    </a:p>
                  </a:txBody>
                  <a:tcPr marL="45720" marR="45720" marT="27432" marB="27432">
                    <a:solidFill>
                      <a:srgbClr val="7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Best Fit</a:t>
                      </a:r>
                    </a:p>
                  </a:txBody>
                  <a:tcPr marL="45720" marR="45720" marT="27432" marB="27432">
                    <a:solidFill>
                      <a:srgbClr val="780000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GPT-4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NLP / GenAI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Very Large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Very High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Moderate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Low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Complex generation + reasoning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BERT-base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NLP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Medium (110M)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High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Fast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Moderate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Text classification + search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EfficientNet-B0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Vision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Medium (5.3M)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Very High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Moderate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Moderate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High-accuracy image tasks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MobileNetV2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Vision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Small (3.4M)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High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Very Fast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Moderate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Mobile / edge vision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XGBoost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Tabular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Small / flexible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High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Fast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High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Structured risk prediction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15988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LightGBM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Tabular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Small / flexible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High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Very Fast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Medium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323"/>
                          </a:solidFill>
                        </a:rPr>
                        <a:t>Large-scale tabular data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4892040"/>
            <a:ext cx="7909560" cy="502920"/>
          </a:xfrm>
          <a:prstGeom prst="roundRect">
            <a:avLst/>
          </a:prstGeom>
          <a:solidFill>
            <a:srgbClr val="FFF0F0"/>
          </a:solidFill>
          <a:ln w="1524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200">
                <a:solidFill>
                  <a:srgbClr val="780000"/>
                </a:solidFill>
              </a:rPr>
              <a:t>Main Pattern</a:t>
            </a:r>
          </a:p>
          <a:p>
            <a:pPr algn="l"/>
            <a:r>
              <a:rPr sz="1000">
                <a:solidFill>
                  <a:srgbClr val="232323"/>
                </a:solidFill>
              </a:rPr>
              <a:t>Large models usually improve capability but reduce speed and explainability. Smaller tabular and vision models are often better for fast, explainable deployment.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800" b="1">
                <a:solidFill>
                  <a:srgbClr val="FFFFFF"/>
                </a:solidFill>
              </a:rPr>
              <a:t>Component 5: Explainability and Model Trust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005840"/>
            <a:ext cx="1083564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300" b="1">
                <a:solidFill>
                  <a:srgbClr val="FFFFFF"/>
                </a:solidFill>
              </a:rPr>
              <a:t>Definition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89888"/>
            <a:ext cx="10561320" cy="658368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950" b="0">
                <a:solidFill>
                  <a:srgbClr val="222222"/>
                </a:solidFill>
                <a:latin typeface="Arial"/>
              </a:defRPr>
            </a:pPr>
            <a:r>
              <a:rPr sz="1200">
                <a:solidFill>
                  <a:srgbClr val="232323"/>
                </a:solidFill>
              </a:rPr>
              <a:t>Explainability describes how easily humans can understand why a model produced a result. It matters most when decisions affect safety, money, health, or compliance.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14600"/>
            <a:ext cx="5485733" cy="86690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22222"/>
                </a:solidFill>
                <a:latin typeface="Arial"/>
              </a:defRPr>
            </a:pPr>
            <a:r>
              <a:rPr sz="1200">
                <a:solidFill>
                  <a:srgbClr val="232323"/>
                </a:solidFill>
              </a:rPr>
              <a:t>LLMs are powerful but harder to interpret because decisions are distributed across billions of parameters.</a:t>
            </a:r>
          </a:p>
          <a:p>
            <a:r>
              <a:rPr sz="1200">
                <a:solidFill>
                  <a:srgbClr val="232323"/>
                </a:solidFill>
              </a:rPr>
              <a:t>Tree-based models are easier to explain because decisions follow splits, feature importance, and structured rules.</a:t>
            </a:r>
          </a:p>
          <a:p>
            <a:r>
              <a:rPr sz="1200">
                <a:solidFill>
                  <a:srgbClr val="232323"/>
                </a:solidFill>
              </a:rPr>
              <a:t>Vision models sit in the middle: they can be inspected using attention maps or saliency methods, but explanations are still approximate.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2331720"/>
          <a:ext cx="48463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Model Type</a:t>
                      </a:r>
                    </a:p>
                  </a:txBody>
                  <a:tcPr marL="45720" marR="45720" marT="27432" marB="27432">
                    <a:solidFill>
                      <a:srgbClr val="7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Explainability Pattern</a:t>
                      </a:r>
                    </a:p>
                  </a:txBody>
                  <a:tcPr marL="45720" marR="45720" marT="27432" marB="27432">
                    <a:solidFill>
                      <a:srgbClr val="7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</a:rPr>
                        <a:t>LLMs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</a:rPr>
                        <a:t>Low: opaque internal reasoning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</a:rPr>
                        <a:t>Vision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</a:rPr>
                        <a:t>Medium: visual attribution tools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</a:rPr>
                        <a:t>Tree-based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</a:rPr>
                        <a:t>High: feature splits and importance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0" y="4434840"/>
            <a:ext cx="484632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300" b="1">
                <a:solidFill>
                  <a:srgbClr val="FFFFFF"/>
                </a:solidFill>
              </a:rPr>
              <a:t>Key Idea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4892040"/>
            <a:ext cx="4572000" cy="73152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80" b="0">
                <a:solidFill>
                  <a:srgbClr val="222222"/>
                </a:solidFill>
                <a:latin typeface="Arial"/>
              </a:defRPr>
            </a:pPr>
            <a:r>
              <a:rPr sz="1200">
                <a:solidFill>
                  <a:srgbClr val="232323"/>
                </a:solidFill>
              </a:rPr>
              <a:t>Explainability is a model-selection factor, not an afterthought.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4800801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900">
                <a:solidFill>
                  <a:srgbClr val="232323"/>
                </a:solidFill>
              </a:rPr>
              <a:t>AIML-501 | Model Selection Matrix | Benita Chinemerem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6127" y="6473952"/>
            <a:ext cx="243913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900">
                <a:solidFill>
                  <a:srgbClr val="232323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800" b="1">
                <a:solidFill>
                  <a:srgbClr val="FFFFFF"/>
                </a:solidFill>
              </a:rPr>
              <a:t>Component 6: Deployment Trade-Offs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005840"/>
            <a:ext cx="1083564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300" b="1">
                <a:solidFill>
                  <a:srgbClr val="FFFFFF"/>
                </a:solidFill>
              </a:rPr>
              <a:t>Why Trade-Offs Matter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89888"/>
            <a:ext cx="10561320" cy="658368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950" b="0">
                <a:solidFill>
                  <a:srgbClr val="222222"/>
                </a:solidFill>
                <a:latin typeface="Arial"/>
              </a:defRPr>
            </a:pPr>
            <a:r>
              <a:rPr sz="1200">
                <a:solidFill>
                  <a:srgbClr val="232323"/>
                </a:solidFill>
              </a:rPr>
              <a:t>A model that performs well in testing may still be a poor production choice if it is too slow, expensive, or difficult to explain.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5642827" cy="774571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1060">
                <a:solidFill>
                  <a:srgbClr val="222222"/>
                </a:solidFill>
                <a:latin typeface="Arial"/>
              </a:defRPr>
            </a:pPr>
            <a:r>
              <a:rPr sz="1200">
                <a:solidFill>
                  <a:srgbClr val="232323"/>
                </a:solidFill>
              </a:rPr>
              <a:t>GPT-4: strong capability, high cost, low transparency.</a:t>
            </a:r>
          </a:p>
          <a:p>
            <a:r>
              <a:rPr sz="1200">
                <a:solidFill>
                  <a:srgbClr val="232323"/>
                </a:solidFill>
              </a:rPr>
              <a:t>BERT: efficient NLP baseline for classification tasks.</a:t>
            </a:r>
          </a:p>
          <a:p>
            <a:r>
              <a:rPr sz="1200">
                <a:solidFill>
                  <a:srgbClr val="232323"/>
                </a:solidFill>
              </a:rPr>
              <a:t>MobileNet: fast vision model for mobile and edge devices.</a:t>
            </a:r>
          </a:p>
          <a:p>
            <a:r>
              <a:rPr sz="1200">
                <a:solidFill>
                  <a:srgbClr val="232323"/>
                </a:solidFill>
              </a:rPr>
              <a:t>XGBoost: strong balance for structured business data.</a:t>
            </a:r>
          </a:p>
          <a:p>
            <a:r>
              <a:rPr sz="1200">
                <a:solidFill>
                  <a:srgbClr val="232323"/>
                </a:solidFill>
              </a:rPr>
              <a:t>LightGBM: speed-focused option for large tabular datasets.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71765" y="4434840"/>
            <a:ext cx="3108960" cy="1188720"/>
          </a:xfrm>
          <a:prstGeom prst="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900" b="1">
                <a:solidFill>
                  <a:srgbClr val="8B0000"/>
                </a:solidFill>
                <a:latin typeface="Arial"/>
              </a:defRPr>
            </a:pPr>
            <a:r>
              <a:rPr sz="1200" b="1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6871765" y="3488436"/>
            <a:ext cx="3108960" cy="914400"/>
          </a:xfrm>
          <a:prstGeom prst="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900" b="1">
                <a:solidFill>
                  <a:srgbClr val="8B0000"/>
                </a:solidFill>
                <a:latin typeface="Arial"/>
              </a:defRPr>
            </a:pPr>
            <a:r>
              <a:rPr sz="1200" b="1">
                <a:solidFill>
                  <a:srgbClr val="FFFFFF"/>
                </a:solidFill>
              </a:rPr>
              <a:t>Speed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71765" y="2786634"/>
            <a:ext cx="3108960" cy="685800"/>
          </a:xfrm>
          <a:prstGeom prst="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900" b="1">
                <a:solidFill>
                  <a:srgbClr val="8B0000"/>
                </a:solidFill>
                <a:latin typeface="Arial"/>
              </a:defRPr>
            </a:pPr>
            <a:r>
              <a:rPr sz="1200" b="1">
                <a:solidFill>
                  <a:srgbClr val="FFFFFF"/>
                </a:solidFill>
              </a:rPr>
              <a:t>Size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71765" y="2329434"/>
            <a:ext cx="3108960" cy="457200"/>
          </a:xfrm>
          <a:prstGeom prst="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900" b="1">
                <a:solidFill>
                  <a:srgbClr val="8B0000"/>
                </a:solidFill>
                <a:latin typeface="Arial"/>
              </a:defRPr>
            </a:pPr>
            <a:r>
              <a:rPr sz="1200" b="1">
                <a:solidFill>
                  <a:srgbClr val="FFFFFF"/>
                </a:solidFill>
              </a:rPr>
              <a:t>Explainability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5788152"/>
            <a:ext cx="3794760" cy="50292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720" b="0">
                <a:solidFill>
                  <a:srgbClr val="222222"/>
                </a:solidFill>
                <a:latin typeface="Arial"/>
              </a:defRPr>
            </a:pPr>
            <a:r>
              <a:rPr sz="1100">
                <a:solidFill>
                  <a:srgbClr val="232323"/>
                </a:solidFill>
              </a:rPr>
              <a:t>Real-world model selection balances technical performance with operational constraints.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4143185" cy="258532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900">
                <a:solidFill>
                  <a:srgbClr val="232323"/>
                </a:solidFill>
              </a:rPr>
              <a:t>AIML-501 | Model Selection Matrix | Benita Chinemerem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8800" y="6473952"/>
            <a:ext cx="311240" cy="258532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900">
                <a:solidFill>
                  <a:srgbClr val="232323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800" b="1">
                <a:solidFill>
                  <a:srgbClr val="FFFFFF"/>
                </a:solidFill>
              </a:rPr>
              <a:t>How Model Selection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743200"/>
            <a:ext cx="1143000" cy="45720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660" b="1">
                <a:solidFill>
                  <a:srgbClr val="8B0000"/>
                </a:solidFill>
                <a:latin typeface="Arial"/>
              </a:defRPr>
            </a:pPr>
            <a:r>
              <a:rPr sz="1000" b="1">
                <a:solidFill>
                  <a:srgbClr val="FFFFFF"/>
                </a:solidFill>
              </a:rPr>
              <a:t>Define Use 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2743200"/>
            <a:ext cx="1143000" cy="45720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660" b="1">
                <a:solidFill>
                  <a:srgbClr val="8B0000"/>
                </a:solidFill>
                <a:latin typeface="Arial"/>
              </a:defRPr>
            </a:pPr>
            <a:r>
              <a:rPr sz="1000" b="1">
                <a:solidFill>
                  <a:srgbClr val="FFFFFF"/>
                </a:solidFill>
              </a:rPr>
              <a:t>Identify Domain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2743200"/>
            <a:ext cx="1143000" cy="45720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660" b="1">
                <a:solidFill>
                  <a:srgbClr val="8B0000"/>
                </a:solidFill>
                <a:latin typeface="Arial"/>
              </a:defRPr>
            </a:pPr>
            <a:r>
              <a:rPr sz="1000" b="1">
                <a:solidFill>
                  <a:srgbClr val="FFFFFF"/>
                </a:solidFill>
              </a:rPr>
              <a:t>Compare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2743200"/>
            <a:ext cx="1143000" cy="45720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660" b="1">
                <a:solidFill>
                  <a:srgbClr val="8B0000"/>
                </a:solidFill>
                <a:latin typeface="Arial"/>
              </a:defRPr>
            </a:pPr>
            <a:r>
              <a:rPr sz="1000" b="1">
                <a:solidFill>
                  <a:srgbClr val="FFFFFF"/>
                </a:solidFill>
              </a:rPr>
              <a:t>Score Trade-Offs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2743200"/>
            <a:ext cx="1143000" cy="45720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660" b="1">
                <a:solidFill>
                  <a:srgbClr val="8B0000"/>
                </a:solidFill>
                <a:latin typeface="Arial"/>
              </a:defRPr>
            </a:pPr>
            <a:r>
              <a:rPr sz="1000" b="1">
                <a:solidFill>
                  <a:srgbClr val="FFFFFF"/>
                </a:solidFill>
              </a:rPr>
              <a:t>Validate Choice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600" y="2743200"/>
            <a:ext cx="1143000" cy="45720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660" b="1">
                <a:solidFill>
                  <a:srgbClr val="8B0000"/>
                </a:solidFill>
                <a:latin typeface="Arial"/>
              </a:defRPr>
            </a:pPr>
            <a:r>
              <a:rPr sz="1000" b="1">
                <a:solidFill>
                  <a:srgbClr val="FFFFFF"/>
                </a:solidFill>
              </a:rPr>
              <a:t>Monitor Results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57400" y="2971800"/>
            <a:ext cx="502920" cy="0"/>
          </a:xfrm>
          <a:prstGeom prst="line">
            <a:avLst/>
          </a:prstGeom>
          <a:ln w="15875">
            <a:solidFill>
              <a:srgbClr val="8B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703320" y="2971800"/>
            <a:ext cx="548640" cy="0"/>
          </a:xfrm>
          <a:prstGeom prst="line">
            <a:avLst/>
          </a:prstGeom>
          <a:ln w="15875">
            <a:solidFill>
              <a:srgbClr val="8B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0" y="2971800"/>
            <a:ext cx="320040" cy="0"/>
          </a:xfrm>
          <a:prstGeom prst="line">
            <a:avLst/>
          </a:prstGeom>
          <a:ln w="15875">
            <a:solidFill>
              <a:srgbClr val="8B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0" y="2971800"/>
            <a:ext cx="685800" cy="0"/>
          </a:xfrm>
          <a:prstGeom prst="line">
            <a:avLst/>
          </a:prstGeom>
          <a:ln w="15875">
            <a:solidFill>
              <a:srgbClr val="8B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86800" y="2971800"/>
            <a:ext cx="685800" cy="0"/>
          </a:xfrm>
          <a:prstGeom prst="line">
            <a:avLst/>
          </a:prstGeom>
          <a:ln w="15875">
            <a:solidFill>
              <a:srgbClr val="8B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78240" y="3886200"/>
            <a:ext cx="2468880" cy="96012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750" b="0">
                <a:solidFill>
                  <a:srgbClr val="222222"/>
                </a:solidFill>
                <a:latin typeface="Arial"/>
              </a:defRPr>
            </a:pPr>
            <a:r>
              <a:rPr sz="1200">
                <a:solidFill>
                  <a:srgbClr val="232323"/>
                </a:solidFill>
              </a:rPr>
              <a:t>Model selection is an iterative decision process. Teams choose a model, evaluate trade-offs, test it against business needs, and monitor performance after deployment.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5166360"/>
            <a:ext cx="1042416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300" b="1">
                <a:solidFill>
                  <a:srgbClr val="FFFFFF"/>
                </a:solidFill>
              </a:rPr>
              <a:t>Selection Cycle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5532120"/>
            <a:ext cx="10149840" cy="50292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00" b="0">
                <a:solidFill>
                  <a:srgbClr val="222222"/>
                </a:solidFill>
                <a:latin typeface="Arial"/>
              </a:defRPr>
            </a:pPr>
            <a:r>
              <a:rPr sz="1200">
                <a:solidFill>
                  <a:srgbClr val="232323"/>
                </a:solidFill>
              </a:rPr>
              <a:t>Define the problem, compare candidate models, validate performance, and revisit the choice as data and deployment needs change.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73952"/>
            <a:ext cx="4800801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900">
                <a:solidFill>
                  <a:srgbClr val="232323"/>
                </a:solidFill>
              </a:rPr>
              <a:t>AIML-501 | Model Selection Matrix | Benita Chinemerem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09946" y="6473952"/>
            <a:ext cx="340094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900">
                <a:solidFill>
                  <a:srgbClr val="232323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800" b="1">
                <a:solidFill>
                  <a:srgbClr val="FFFFFF"/>
                </a:solidFill>
              </a:rPr>
              <a:t>Model Deep Dive: GPT-4 and BERT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8622617" cy="11464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22222"/>
                </a:solidFill>
                <a:latin typeface="Arial"/>
              </a:defRPr>
            </a:pPr>
            <a:r>
              <a:rPr sz="1200">
                <a:solidFill>
                  <a:srgbClr val="232323"/>
                </a:solidFill>
              </a:rPr>
              <a:t>GPT-4 is best suited for complex language generation, reasoning, summarization, coding assistance, and multimodal workflows. BERT is better suited for focused NLP tasks such as classification, search, and sentiment analysis.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07993" y="2567694"/>
            <a:ext cx="457200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300" b="1">
                <a:solidFill>
                  <a:srgbClr val="FFFFFF"/>
                </a:solidFill>
              </a:rPr>
              <a:t>Model Snapshot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3048420"/>
            <a:ext cx="4297680" cy="182880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919" b="0">
                <a:solidFill>
                  <a:srgbClr val="222222"/>
                </a:solidFill>
                <a:latin typeface="Arial"/>
              </a:defRPr>
            </a:pPr>
            <a:r>
              <a:rPr sz="1200">
                <a:solidFill>
                  <a:srgbClr val="232323"/>
                </a:solidFill>
              </a:rPr>
              <a:t>GPT-4: very large, high capability, moderate speed, low explainability</a:t>
            </a:r>
          </a:p>
          <a:p>
            <a:r>
              <a:rPr sz="1200">
                <a:solidFill>
                  <a:srgbClr val="232323"/>
                </a:solidFill>
              </a:rPr>
              <a:t>BERT-base: 110M parameters, high NLP accuracy, faster inference, moderate explainability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4942332"/>
            <a:ext cx="457200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300" b="1">
                <a:solidFill>
                  <a:srgbClr val="FFFFFF"/>
                </a:solidFill>
              </a:rPr>
              <a:t>Key 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5532120"/>
            <a:ext cx="4297680" cy="841248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30" b="0">
                <a:solidFill>
                  <a:srgbClr val="222222"/>
                </a:solidFill>
                <a:latin typeface="Arial"/>
              </a:defRPr>
            </a:pPr>
            <a:r>
              <a:rPr sz="1200">
                <a:solidFill>
                  <a:srgbClr val="232323"/>
                </a:solidFill>
              </a:rPr>
              <a:t>For enterprise NLP, BERT may be more practical than GPT-4 when the goal is classification rather than open-ended generation.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800801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900">
                <a:solidFill>
                  <a:srgbClr val="232323"/>
                </a:solidFill>
              </a:rPr>
              <a:t>AIML-501 | Model Selection Matrix | Benita Chinemerem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9946" y="6473952"/>
            <a:ext cx="340094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900">
                <a:solidFill>
                  <a:srgbClr val="232323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800" b="1">
                <a:solidFill>
                  <a:srgbClr val="FFFFFF"/>
                </a:solidFill>
              </a:rPr>
              <a:t>Model Deep Dive: Vision and Tabular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9645076" cy="11464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22222"/>
                </a:solidFill>
                <a:latin typeface="Arial"/>
              </a:defRPr>
            </a:pPr>
            <a:r>
              <a:rPr sz="1200">
                <a:solidFill>
                  <a:srgbClr val="232323"/>
                </a:solidFill>
              </a:rPr>
              <a:t>EfficientNet and MobileNet support image tasks, while XGBoost and LightGBM support structured business data. Each family makes a different trade-off between accuracy, speed, size, and explainability.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29400" y="2601790"/>
            <a:ext cx="457200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300" b="1">
                <a:solidFill>
                  <a:srgbClr val="FFFFFF"/>
                </a:solidFill>
              </a:rPr>
              <a:t>Model Snapshot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3116448"/>
            <a:ext cx="4297680" cy="182880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919" b="0">
                <a:solidFill>
                  <a:srgbClr val="222222"/>
                </a:solidFill>
                <a:latin typeface="Arial"/>
              </a:defRPr>
            </a:pPr>
            <a:r>
              <a:rPr sz="1200">
                <a:solidFill>
                  <a:srgbClr val="232323"/>
                </a:solidFill>
              </a:rPr>
              <a:t>EfficientNet-B0: 5.3M parameters, strong image accuracy</a:t>
            </a:r>
          </a:p>
          <a:p>
            <a:r>
              <a:rPr sz="1200">
                <a:solidFill>
                  <a:srgbClr val="232323"/>
                </a:solidFill>
              </a:rPr>
              <a:t>MobileNetV2: 3.4M parameters, optimized for mobile speed</a:t>
            </a:r>
          </a:p>
          <a:p>
            <a:r>
              <a:rPr sz="1200">
                <a:solidFill>
                  <a:srgbClr val="232323"/>
                </a:solidFill>
              </a:rPr>
              <a:t>XGBoost: accurate and explainable for structured data</a:t>
            </a:r>
          </a:p>
          <a:p>
            <a:r>
              <a:rPr sz="1200">
                <a:solidFill>
                  <a:srgbClr val="232323"/>
                </a:solidFill>
              </a:rPr>
              <a:t>LightGBM: fast and scalable for large tabular datasets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5037240"/>
            <a:ext cx="457200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300" b="1">
                <a:solidFill>
                  <a:srgbClr val="FFFFFF"/>
                </a:solidFill>
              </a:rPr>
              <a:t>Key 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5532120"/>
            <a:ext cx="4297680" cy="841248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30" b="0">
                <a:solidFill>
                  <a:srgbClr val="222222"/>
                </a:solidFill>
                <a:latin typeface="Arial"/>
              </a:defRPr>
            </a:pPr>
            <a:r>
              <a:rPr sz="1200">
                <a:solidFill>
                  <a:srgbClr val="232323"/>
                </a:solidFill>
              </a:rPr>
              <a:t>Tree-based models remain strong for structured data because they combine practical accuracy with interpretability and deployment efficiency.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800801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900">
                <a:solidFill>
                  <a:srgbClr val="232323"/>
                </a:solidFill>
              </a:rPr>
              <a:t>AIML-501 | Model Selection Matrix | Benita Chinemerem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9946" y="6473952"/>
            <a:ext cx="340094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900">
                <a:solidFill>
                  <a:srgbClr val="232323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800" b="1">
                <a:solidFill>
                  <a:srgbClr val="FFFFFF"/>
                </a:solidFill>
              </a:rPr>
              <a:t>Recommendations by Use 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4663440"/>
            <a:ext cx="973836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600">
                <a:latin typeface="Aptos" panose="020B0004020202020204" pitchFamily="34" charset="0"/>
              </a:rPr>
              <a:t>Main Takeaway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5074920"/>
            <a:ext cx="9372600" cy="64008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00" b="0">
                <a:solidFill>
                  <a:srgbClr val="222222"/>
                </a:solidFill>
                <a:latin typeface="Arial"/>
              </a:defRPr>
            </a:pPr>
            <a:r>
              <a:rPr sz="1300" b="1">
                <a:solidFill>
                  <a:srgbClr val="FFFFFF"/>
                </a:solidFill>
              </a:rPr>
              <a:t>Main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5456687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1200">
                <a:solidFill>
                  <a:srgbClr val="232323"/>
                </a:solidFill>
              </a:rPr>
              <a:t>Model selection should start with the use case. The strongest model is the one that best fits the business need, not simply the one with the highest benchmark score.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98" y="6473952"/>
            <a:ext cx="365742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900">
                <a:solidFill>
                  <a:srgbClr val="232323"/>
                </a:solidFill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234440"/>
          <a:ext cx="80467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444137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Use Case</a:t>
                      </a:r>
                    </a:p>
                  </a:txBody>
                  <a:tcPr marL="45720" marR="45720" marT="27432" marB="27432">
                    <a:solidFill>
                      <a:srgbClr val="7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Recommended Model</a:t>
                      </a:r>
                    </a:p>
                  </a:txBody>
                  <a:tcPr marL="45720" marR="45720" marT="27432" marB="27432">
                    <a:solidFill>
                      <a:srgbClr val="7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Reason</a:t>
                      </a:r>
                    </a:p>
                  </a:txBody>
                  <a:tcPr marL="45720" marR="45720" marT="27432" marB="27432">
                    <a:solidFill>
                      <a:srgbClr val="780000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</a:rPr>
                        <a:t>Open-ended content generation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</a:rPr>
                        <a:t>GPT-4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</a:rPr>
                        <a:t>Best capability for flexible language tasks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</a:rPr>
                        <a:t>NLP classification/search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</a:rPr>
                        <a:t>BERT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</a:rPr>
                        <a:t>Strong accuracy with faster inference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</a:rPr>
                        <a:t>High-accuracy image classification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</a:rPr>
                        <a:t>EfficientNet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</a:rPr>
                        <a:t>Better accuracy-size balance for vision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</a:rPr>
                        <a:t>Mobile or edge vision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</a:rPr>
                        <a:t>MobileNetV2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</a:rPr>
                        <a:t>Small and fast for constrained devices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</a:rPr>
                        <a:t>Structured business analytics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</a:rPr>
                        <a:t>XGBoost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</a:rPr>
                        <a:t>Strong accuracy and explainability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</a:rPr>
                        <a:t>Large-scale tabular pipelines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</a:rPr>
                        <a:t>LightGBM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</a:rPr>
                        <a:t>Very fast training and inference</a:t>
                      </a:r>
                    </a:p>
                  </a:txBody>
                  <a:tcPr marL="45720" marR="45720" marT="27432" marB="27432">
                    <a:solidFill>
                      <a:srgbClr val="FF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28600"/>
            <a:ext cx="11567160" cy="685800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800" b="1">
                <a:solidFill>
                  <a:srgbClr val="FFFFFF"/>
                </a:solidFill>
              </a:rPr>
              <a:t>Portfolio Artifact Value Proposition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1560" y="1234440"/>
            <a:ext cx="1010412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300" b="1">
                <a:solidFill>
                  <a:srgbClr val="FFFFFF"/>
                </a:solidFill>
              </a:rPr>
              <a:t>Artifact-Specific Value Proposition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1627632"/>
            <a:ext cx="9829800" cy="114300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950" b="0">
                <a:solidFill>
                  <a:srgbClr val="222222"/>
                </a:solidFill>
                <a:latin typeface="Arial"/>
              </a:defRPr>
            </a:pPr>
            <a:r>
              <a:rPr sz="1200">
                <a:solidFill>
                  <a:srgbClr val="232323"/>
                </a:solidFill>
              </a:rPr>
              <a:t>This artifact helps AI students, instructors, and early technology professionals understand how to select models across different AI domains. It demonstrates my ability to classify models, compare trade-offs, and connect technical performance to deployment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154680"/>
            <a:ext cx="7786106" cy="86690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1060">
                <a:solidFill>
                  <a:srgbClr val="222222"/>
                </a:solidFill>
                <a:latin typeface="Arial"/>
              </a:defRPr>
            </a:pPr>
            <a:r>
              <a:rPr sz="1050">
                <a:solidFill>
                  <a:srgbClr val="232323"/>
                </a:solidFill>
              </a:rPr>
              <a:t>Audience: AIML students, instructors, and beginner AI learners.</a:t>
            </a:r>
          </a:p>
          <a:p>
            <a:r>
              <a:rPr sz="1050">
                <a:solidFill>
                  <a:srgbClr val="232323"/>
                </a:solidFill>
              </a:rPr>
              <a:t>Value: Clear model-selection framework across NLP, Vision, and Tabular Data.</a:t>
            </a:r>
          </a:p>
          <a:p>
            <a:r>
              <a:rPr sz="1050">
                <a:solidFill>
                  <a:srgbClr val="232323"/>
                </a:solidFill>
              </a:rPr>
              <a:t>Skill demonstrated: Technical communication, decision analysis, model evaluation, and visual classification design.</a:t>
            </a:r>
          </a:p>
          <a:p/>
          <a:p>
            <a:r>
              <a:rPr sz="1050">
                <a:solidFill>
                  <a:srgbClr val="232323"/>
                </a:solidFill>
              </a:rPr>
              <a:t>Reflection: What surprised me was that the most accurate model is not always the best model. Comparing models across domains forced me to think like a data scientist: define the problem first, then choose the model that best balances accuracy, speed, explainability, and cost.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5074920"/>
            <a:ext cx="10104120" cy="310896"/>
          </a:xfrm>
          <a:prstGeom prst="roundRect">
            <a:avLst/>
          </a:prstGeom>
          <a:solidFill>
            <a:srgbClr val="8B0000"/>
          </a:solidFill>
          <a:ln w="1397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300" b="1">
                <a:solidFill>
                  <a:srgbClr val="FFFFFF"/>
                </a:solidFill>
              </a:rPr>
              <a:t>Sources Reviewed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5440680"/>
            <a:ext cx="9829800" cy="594360"/>
          </a:xfrm>
          <a:prstGeom prst="roundRect">
            <a:avLst/>
          </a:prstGeom>
          <a:solidFill>
            <a:srgbClr val="FCE5E5"/>
          </a:solidFill>
          <a:ln w="13970">
            <a:solidFill>
              <a:srgbClr val="B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680" b="0">
                <a:solidFill>
                  <a:srgbClr val="222222"/>
                </a:solidFill>
                <a:latin typeface="Arial"/>
              </a:defRPr>
            </a:pPr>
            <a:r>
              <a:rPr sz="1050">
                <a:solidFill>
                  <a:srgbClr val="232323"/>
                </a:solidFill>
              </a:rPr>
              <a:t>OpenAI GPT-4 Technical Report; Devlin et al. (2019) BERT; Tan &amp; Le (2019) EfficientNet; Sandler et al. (2018) MobileNetV2; Chen &amp; Guestrin (2016) XGBoost; LightGBM documentation and course resources.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800801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900">
                <a:solidFill>
                  <a:srgbClr val="232323"/>
                </a:solidFill>
              </a:rPr>
              <a:t>AIML-501 | Model Selection Matrix | Benita Chinemerem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9946" y="6473952"/>
            <a:ext cx="340094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r">
              <a:defRPr sz="520" b="0">
                <a:solidFill>
                  <a:srgbClr val="5A5A5A"/>
                </a:solidFill>
                <a:latin typeface="Arial"/>
              </a:defRPr>
            </a:pPr>
            <a:r>
              <a:rPr sz="900">
                <a:solidFill>
                  <a:srgbClr val="232323"/>
                </a:solidFill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1522</Words>
  <Application>Microsoft Office PowerPoint</Application>
  <PresentationFormat>Widescreen</PresentationFormat>
  <Paragraphs>194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Benita Chinemerem</dc:creator>
  <cp:keywords/>
  <dc:description>generated using python-pptx</dc:description>
  <cp:lastModifiedBy>Benita Chinemerem</cp:lastModifiedBy>
  <cp:revision>2</cp:revision>
  <dcterms:created xsi:type="dcterms:W3CDTF">2013-01-27T09:14:16Z</dcterms:created>
  <dcterms:modified xsi:type="dcterms:W3CDTF">2026-05-25T05:08:31Z</dcterms:modified>
  <cp:category/>
</cp:coreProperties>
</file>